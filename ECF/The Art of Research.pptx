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2" r:id="rId1"/>
  </p:sldMasterIdLst>
  <p:notesMasterIdLst>
    <p:notesMasterId r:id="rId29"/>
  </p:notesMasterIdLst>
  <p:sldIdLst>
    <p:sldId id="256" r:id="rId2"/>
    <p:sldId id="276" r:id="rId3"/>
    <p:sldId id="278" r:id="rId4"/>
    <p:sldId id="277" r:id="rId5"/>
    <p:sldId id="279" r:id="rId6"/>
    <p:sldId id="287" r:id="rId7"/>
    <p:sldId id="288" r:id="rId8"/>
    <p:sldId id="284" r:id="rId9"/>
    <p:sldId id="285" r:id="rId10"/>
    <p:sldId id="286" r:id="rId11"/>
    <p:sldId id="265" r:id="rId12"/>
    <p:sldId id="289" r:id="rId13"/>
    <p:sldId id="290" r:id="rId14"/>
    <p:sldId id="292" r:id="rId15"/>
    <p:sldId id="281" r:id="rId16"/>
    <p:sldId id="282" r:id="rId17"/>
    <p:sldId id="293" r:id="rId18"/>
    <p:sldId id="294" r:id="rId19"/>
    <p:sldId id="266" r:id="rId20"/>
    <p:sldId id="267" r:id="rId21"/>
    <p:sldId id="268" r:id="rId22"/>
    <p:sldId id="280" r:id="rId23"/>
    <p:sldId id="269" r:id="rId24"/>
    <p:sldId id="270" r:id="rId25"/>
    <p:sldId id="271" r:id="rId26"/>
    <p:sldId id="272" r:id="rId27"/>
    <p:sldId id="27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6" d="100"/>
          <a:sy n="106" d="100"/>
        </p:scale>
        <p:origin x="108" y="8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274C2B-37F8-4C82-9A8D-90AF942309F4}"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DA76AC-B6A2-4A0E-85BE-F1C6B7D99A13}" type="slidenum">
              <a:rPr lang="en-US" smtClean="0"/>
              <a:t>‹#›</a:t>
            </a:fld>
            <a:endParaRPr lang="en-US"/>
          </a:p>
        </p:txBody>
      </p:sp>
    </p:spTree>
    <p:extLst>
      <p:ext uri="{BB962C8B-B14F-4D97-AF65-F5344CB8AC3E}">
        <p14:creationId xmlns:p14="http://schemas.microsoft.com/office/powerpoint/2010/main" val="188776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D531FF-09FD-4236-87CD-E138FE614E24}" type="datetime1">
              <a:rPr lang="en-US" smtClean="0"/>
              <a:t>9/1/2026</a:t>
            </a:fld>
            <a:endParaRPr lang="en-US"/>
          </a:p>
        </p:txBody>
      </p:sp>
      <p:sp>
        <p:nvSpPr>
          <p:cNvPr id="5" name="Footer Placeholder 4"/>
          <p:cNvSpPr>
            <a:spLocks noGrp="1"/>
          </p:cNvSpPr>
          <p:nvPr>
            <p:ph type="ftr" sz="quarter" idx="11"/>
          </p:nvPr>
        </p:nvSpPr>
        <p:spPr/>
        <p:txBody>
          <a:bodyPr/>
          <a:lstStyle/>
          <a:p>
            <a:r>
              <a:rPr lang="en-US"/>
              <a:t>FOX Executive DBA </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AC7ADAF-A6B6-4C9C-B455-6009AB91AE10}" type="slidenum">
              <a:rPr lang="en-US" smtClean="0"/>
              <a:t>‹#›</a:t>
            </a:fld>
            <a:endParaRPr lang="en-US"/>
          </a:p>
        </p:txBody>
      </p:sp>
    </p:spTree>
    <p:extLst>
      <p:ext uri="{BB962C8B-B14F-4D97-AF65-F5344CB8AC3E}">
        <p14:creationId xmlns:p14="http://schemas.microsoft.com/office/powerpoint/2010/main" val="34756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456CD-8307-45B6-B0FB-C2E6D7FDB8F4}" type="datetime1">
              <a:rPr lang="en-US" smtClean="0"/>
              <a:t>9/1/2026</a:t>
            </a:fld>
            <a:endParaRPr lang="en-US"/>
          </a:p>
        </p:txBody>
      </p:sp>
      <p:sp>
        <p:nvSpPr>
          <p:cNvPr id="5" name="Footer Placeholder 4"/>
          <p:cNvSpPr>
            <a:spLocks noGrp="1"/>
          </p:cNvSpPr>
          <p:nvPr>
            <p:ph type="ftr" sz="quarter" idx="11"/>
          </p:nvPr>
        </p:nvSpPr>
        <p:spPr/>
        <p:txBody>
          <a:bodyPr/>
          <a:lstStyle/>
          <a:p>
            <a:r>
              <a:rPr lang="en-US"/>
              <a:t>FOX Executive DBA </a:t>
            </a:r>
          </a:p>
        </p:txBody>
      </p:sp>
      <p:sp>
        <p:nvSpPr>
          <p:cNvPr id="6" name="Slide Number Placeholder 5"/>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2630520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F9206D78-2E62-4806-B11E-216A3D85D4B6}" type="datetime1">
              <a:rPr lang="en-US" smtClean="0"/>
              <a:t>9/1/2026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r>
              <a:rPr lang="en-US"/>
              <a:t>FOX Executive DBA </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AC7ADAF-A6B6-4C9C-B455-6009AB91AE10}" type="slidenum">
              <a:rPr lang="en-US" smtClean="0"/>
              <a:t>‹#›</a:t>
            </a:fld>
            <a:endParaRPr lang="en-US"/>
          </a:p>
        </p:txBody>
      </p:sp>
    </p:spTree>
    <p:extLst>
      <p:ext uri="{BB962C8B-B14F-4D97-AF65-F5344CB8AC3E}">
        <p14:creationId xmlns:p14="http://schemas.microsoft.com/office/powerpoint/2010/main" val="4108228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F0E047-253C-4725-AE07-319BFAD4A5ED}" type="datetime1">
              <a:rPr lang="en-US" smtClean="0"/>
              <a:t>9/1/2026</a:t>
            </a:fld>
            <a:endParaRPr lang="en-US"/>
          </a:p>
        </p:txBody>
      </p:sp>
      <p:sp>
        <p:nvSpPr>
          <p:cNvPr id="6" name="Footer Placeholder 5"/>
          <p:cNvSpPr>
            <a:spLocks noGrp="1"/>
          </p:cNvSpPr>
          <p:nvPr>
            <p:ph type="ftr" sz="quarter" idx="11"/>
          </p:nvPr>
        </p:nvSpPr>
        <p:spPr/>
        <p:txBody>
          <a:bodyPr/>
          <a:lstStyle/>
          <a:p>
            <a:r>
              <a:rPr lang="en-US"/>
              <a:t>FOX Executive DBA </a:t>
            </a:r>
          </a:p>
        </p:txBody>
      </p:sp>
      <p:sp>
        <p:nvSpPr>
          <p:cNvPr id="7" name="Slide Number Placeholder 6"/>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3936712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E7126B-FD92-4E3E-90DB-BE9C3AD2722A}" type="datetime1">
              <a:rPr lang="en-US" smtClean="0"/>
              <a:t>9/1/2026</a:t>
            </a:fld>
            <a:endParaRPr lang="en-US"/>
          </a:p>
        </p:txBody>
      </p:sp>
      <p:sp>
        <p:nvSpPr>
          <p:cNvPr id="8" name="Footer Placeholder 7"/>
          <p:cNvSpPr>
            <a:spLocks noGrp="1"/>
          </p:cNvSpPr>
          <p:nvPr>
            <p:ph type="ftr" sz="quarter" idx="11"/>
          </p:nvPr>
        </p:nvSpPr>
        <p:spPr/>
        <p:txBody>
          <a:bodyPr/>
          <a:lstStyle/>
          <a:p>
            <a:r>
              <a:rPr lang="en-US"/>
              <a:t>FOX Executive DBA </a:t>
            </a:r>
          </a:p>
        </p:txBody>
      </p:sp>
      <p:sp>
        <p:nvSpPr>
          <p:cNvPr id="9" name="Slide Number Placeholder 8"/>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2810697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FE4D37-0269-4A22-B1E1-1F6B7D56E20C}" type="datetime1">
              <a:rPr lang="en-US" smtClean="0"/>
              <a:t>9/1/2026</a:t>
            </a:fld>
            <a:endParaRPr lang="en-US"/>
          </a:p>
        </p:txBody>
      </p:sp>
      <p:sp>
        <p:nvSpPr>
          <p:cNvPr id="4" name="Footer Placeholder 3"/>
          <p:cNvSpPr>
            <a:spLocks noGrp="1"/>
          </p:cNvSpPr>
          <p:nvPr>
            <p:ph type="ftr" sz="quarter" idx="11"/>
          </p:nvPr>
        </p:nvSpPr>
        <p:spPr/>
        <p:txBody>
          <a:bodyPr/>
          <a:lstStyle/>
          <a:p>
            <a:r>
              <a:rPr lang="en-US"/>
              <a:t>FOX Executive DBA </a:t>
            </a:r>
          </a:p>
        </p:txBody>
      </p:sp>
      <p:sp>
        <p:nvSpPr>
          <p:cNvPr id="5" name="Slide Number Placeholder 4"/>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1488942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64D5F4-21F3-4911-BD7B-61A3FB50C976}" type="datetime1">
              <a:rPr lang="en-US" smtClean="0"/>
              <a:t>9/1/2026</a:t>
            </a:fld>
            <a:endParaRPr lang="en-US"/>
          </a:p>
        </p:txBody>
      </p:sp>
      <p:sp>
        <p:nvSpPr>
          <p:cNvPr id="3" name="Footer Placeholder 2"/>
          <p:cNvSpPr>
            <a:spLocks noGrp="1"/>
          </p:cNvSpPr>
          <p:nvPr>
            <p:ph type="ftr" sz="quarter" idx="11"/>
          </p:nvPr>
        </p:nvSpPr>
        <p:spPr/>
        <p:txBody>
          <a:bodyPr/>
          <a:lstStyle/>
          <a:p>
            <a:r>
              <a:rPr lang="en-US"/>
              <a:t>FOX Executive DBA </a:t>
            </a:r>
          </a:p>
        </p:txBody>
      </p:sp>
      <p:sp>
        <p:nvSpPr>
          <p:cNvPr id="4" name="Slide Number Placeholder 3"/>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1771644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3F9805-856A-473E-B32F-C012F8D3674D}" type="datetime1">
              <a:rPr lang="en-US" smtClean="0"/>
              <a:t>9/1/2026</a:t>
            </a:fld>
            <a:endParaRPr lang="en-US"/>
          </a:p>
        </p:txBody>
      </p:sp>
      <p:sp>
        <p:nvSpPr>
          <p:cNvPr id="6" name="Footer Placeholder 5"/>
          <p:cNvSpPr>
            <a:spLocks noGrp="1"/>
          </p:cNvSpPr>
          <p:nvPr>
            <p:ph type="ftr" sz="quarter" idx="11"/>
          </p:nvPr>
        </p:nvSpPr>
        <p:spPr/>
        <p:txBody>
          <a:bodyPr/>
          <a:lstStyle/>
          <a:p>
            <a:r>
              <a:rPr lang="en-US"/>
              <a:t>FOX Executive DBA </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2523333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CF2E720-BE21-49E9-9130-DC0A5283AC4B}" type="datetime1">
              <a:rPr lang="en-US" smtClean="0"/>
              <a:t>9/1/2026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959772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567D84-BBDE-4F31-8EA9-066CB0070675}" type="datetime1">
              <a:rPr lang="en-US" smtClean="0"/>
              <a:t>9/1/2026</a:t>
            </a:fld>
            <a:endParaRPr lang="en-US"/>
          </a:p>
        </p:txBody>
      </p:sp>
      <p:sp>
        <p:nvSpPr>
          <p:cNvPr id="5" name="Footer Placeholder 4"/>
          <p:cNvSpPr>
            <a:spLocks noGrp="1"/>
          </p:cNvSpPr>
          <p:nvPr>
            <p:ph type="ftr" sz="quarter" idx="11"/>
          </p:nvPr>
        </p:nvSpPr>
        <p:spPr/>
        <p:txBody>
          <a:bodyPr/>
          <a:lstStyle/>
          <a:p>
            <a:r>
              <a:rPr lang="en-US"/>
              <a:t>FOX Executive DBA </a:t>
            </a:r>
          </a:p>
        </p:txBody>
      </p:sp>
      <p:sp>
        <p:nvSpPr>
          <p:cNvPr id="6" name="Slide Number Placeholder 5"/>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3045278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C9352E-28D5-4319-A887-60666D260E82}" type="datetime1">
              <a:rPr lang="en-US" smtClean="0"/>
              <a:t>9/1/2026</a:t>
            </a:fld>
            <a:endParaRPr lang="en-US"/>
          </a:p>
        </p:txBody>
      </p:sp>
      <p:sp>
        <p:nvSpPr>
          <p:cNvPr id="5" name="Footer Placeholder 4"/>
          <p:cNvSpPr>
            <a:spLocks noGrp="1"/>
          </p:cNvSpPr>
          <p:nvPr>
            <p:ph type="ftr" sz="quarter" idx="11"/>
          </p:nvPr>
        </p:nvSpPr>
        <p:spPr/>
        <p:txBody>
          <a:bodyPr/>
          <a:lstStyle/>
          <a:p>
            <a:r>
              <a:rPr lang="en-US"/>
              <a:t>FOX Executive DBA </a:t>
            </a:r>
          </a:p>
        </p:txBody>
      </p:sp>
      <p:sp>
        <p:nvSpPr>
          <p:cNvPr id="6" name="Slide Number Placeholder 5"/>
          <p:cNvSpPr>
            <a:spLocks noGrp="1"/>
          </p:cNvSpPr>
          <p:nvPr>
            <p:ph type="sldNum" sz="quarter" idx="12"/>
          </p:nvPr>
        </p:nvSpPr>
        <p:spPr/>
        <p:txBody>
          <a:bodyPr/>
          <a:lstStyle/>
          <a:p>
            <a:fld id="{EAC7ADAF-A6B6-4C9C-B455-6009AB91AE10}" type="slidenum">
              <a:rPr lang="en-US" smtClean="0"/>
              <a:t>‹#›</a:t>
            </a:fld>
            <a:endParaRPr lang="en-US"/>
          </a:p>
        </p:txBody>
      </p:sp>
    </p:spTree>
    <p:extLst>
      <p:ext uri="{BB962C8B-B14F-4D97-AF65-F5344CB8AC3E}">
        <p14:creationId xmlns:p14="http://schemas.microsoft.com/office/powerpoint/2010/main" val="129505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7DD3654-B560-4236-A57B-4EEC632BBD37}" type="datetime1">
              <a:rPr lang="en-US" smtClean="0"/>
              <a:t>9/1/2026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FOX Executive DBA </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AC7ADAF-A6B6-4C9C-B455-6009AB91AE10}" type="slidenum">
              <a:rPr lang="en-US" smtClean="0"/>
              <a:t>‹#›</a:t>
            </a:fld>
            <a:endParaRPr lang="en-US"/>
          </a:p>
        </p:txBody>
      </p:sp>
    </p:spTree>
    <p:extLst>
      <p:ext uri="{BB962C8B-B14F-4D97-AF65-F5344CB8AC3E}">
        <p14:creationId xmlns:p14="http://schemas.microsoft.com/office/powerpoint/2010/main" val="321440553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cademic.oup.com/rfs/advance-article/doi/10.1093/rfs/hhz057/5513177"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onlinelibrary.wiley.com/doi/full/10.1111/j.1475-679X.2008.00287.x#fn1"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s://sites.google.com/site/kellyshue/" TargetMode="External"/><Relationship Id="rId3" Type="http://schemas.openxmlformats.org/officeDocument/2006/relationships/hyperlink" Target="https://nber.org/" TargetMode="External"/><Relationship Id="rId7" Type="http://schemas.openxmlformats.org/officeDocument/2006/relationships/hyperlink" Target="https://alexedmans.com/" TargetMode="External"/><Relationship Id="rId2" Type="http://schemas.openxmlformats.org/officeDocument/2006/relationships/hyperlink" Target="https://www.ssrn.com/index.cfm/en/" TargetMode="External"/><Relationship Id="rId1" Type="http://schemas.openxmlformats.org/officeDocument/2006/relationships/slideLayout" Target="../slideLayouts/slideLayout2.xml"/><Relationship Id="rId6" Type="http://schemas.openxmlformats.org/officeDocument/2006/relationships/hyperlink" Target="https://sfs.org/financecavalcades/sfs-cavalcade-north-america/" TargetMode="External"/><Relationship Id="rId5" Type="http://schemas.openxmlformats.org/officeDocument/2006/relationships/hyperlink" Target="https://assets.aeaweb.org/asset-server/files/8852.pdf" TargetMode="External"/><Relationship Id="rId4" Type="http://schemas.openxmlformats.org/officeDocument/2006/relationships/hyperlink" Target="https://westernfinance.org/wp-content/uploads/2019_links.pdf"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4.xml"/><Relationship Id="rId4" Type="http://schemas.openxmlformats.org/officeDocument/2006/relationships/image" Target="../media/image9.tmp"/></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8321" y="452581"/>
            <a:ext cx="9966960" cy="3452031"/>
          </a:xfrm>
        </p:spPr>
        <p:txBody>
          <a:bodyPr/>
          <a:lstStyle/>
          <a:p>
            <a:br>
              <a:rPr lang="en-US" sz="5400" dirty="0"/>
            </a:br>
            <a:r>
              <a:rPr lang="en-US" sz="5400" dirty="0"/>
              <a:t>FIN 9002: Empirical Methods in Corporate Finance</a:t>
            </a:r>
          </a:p>
        </p:txBody>
      </p:sp>
      <p:sp>
        <p:nvSpPr>
          <p:cNvPr id="3" name="Subtitle 2"/>
          <p:cNvSpPr>
            <a:spLocks noGrp="1"/>
          </p:cNvSpPr>
          <p:nvPr>
            <p:ph type="subTitle" idx="1"/>
          </p:nvPr>
        </p:nvSpPr>
        <p:spPr>
          <a:xfrm>
            <a:off x="1088321" y="4813993"/>
            <a:ext cx="7891272" cy="1069848"/>
          </a:xfrm>
        </p:spPr>
        <p:txBody>
          <a:bodyPr>
            <a:normAutofit/>
          </a:bodyPr>
          <a:lstStyle/>
          <a:p>
            <a:r>
              <a:rPr lang="en-US" dirty="0"/>
              <a:t>Professor Lalitha Naveen</a:t>
            </a:r>
          </a:p>
          <a:p>
            <a:r>
              <a:rPr lang="en-US" dirty="0"/>
              <a:t>Fox School of Business</a:t>
            </a:r>
          </a:p>
        </p:txBody>
      </p:sp>
    </p:spTree>
    <p:extLst>
      <p:ext uri="{BB962C8B-B14F-4D97-AF65-F5344CB8AC3E}">
        <p14:creationId xmlns:p14="http://schemas.microsoft.com/office/powerpoint/2010/main" val="253564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Reading</a:t>
            </a:r>
          </a:p>
        </p:txBody>
      </p:sp>
      <p:sp>
        <p:nvSpPr>
          <p:cNvPr id="3" name="Content Placeholder 2"/>
          <p:cNvSpPr>
            <a:spLocks noGrp="1"/>
          </p:cNvSpPr>
          <p:nvPr>
            <p:ph idx="1"/>
          </p:nvPr>
        </p:nvSpPr>
        <p:spPr/>
        <p:txBody>
          <a:bodyPr>
            <a:normAutofit/>
          </a:bodyPr>
          <a:lstStyle/>
          <a:p>
            <a:r>
              <a:rPr lang="en-US" sz="2400" dirty="0"/>
              <a:t>Start by skimming </a:t>
            </a:r>
            <a:r>
              <a:rPr lang="en-US" sz="2400" i="1" dirty="0"/>
              <a:t>Introduction</a:t>
            </a:r>
          </a:p>
          <a:p>
            <a:r>
              <a:rPr lang="en-US" sz="2400" dirty="0"/>
              <a:t>A good Intro will quickly highlight:</a:t>
            </a:r>
          </a:p>
          <a:p>
            <a:pPr lvl="1"/>
            <a:endParaRPr lang="en-US" dirty="0"/>
          </a:p>
          <a:p>
            <a:pPr lvl="1"/>
            <a:r>
              <a:rPr lang="en-US" sz="2000" dirty="0"/>
              <a:t>Main  research question</a:t>
            </a:r>
          </a:p>
          <a:p>
            <a:pPr lvl="1"/>
            <a:r>
              <a:rPr lang="en-US" sz="2000" dirty="0"/>
              <a:t>Importance/relevance of this question</a:t>
            </a:r>
          </a:p>
          <a:p>
            <a:pPr lvl="1"/>
            <a:r>
              <a:rPr lang="en-US" sz="2000" dirty="0"/>
              <a:t>How do the authors approach this question – i.e., what is the experiment?</a:t>
            </a:r>
          </a:p>
          <a:p>
            <a:pPr lvl="1"/>
            <a:r>
              <a:rPr lang="en-US" sz="2000" dirty="0"/>
              <a:t>Main findings</a:t>
            </a:r>
          </a:p>
          <a:p>
            <a:pPr lvl="1"/>
            <a:r>
              <a:rPr lang="en-US" sz="2000" dirty="0"/>
              <a:t>Incremental contribution of this paper</a:t>
            </a:r>
          </a:p>
          <a:p>
            <a:pPr lvl="1"/>
            <a:endParaRPr lang="en-US" dirty="0"/>
          </a:p>
        </p:txBody>
      </p:sp>
    </p:spTree>
    <p:extLst>
      <p:ext uri="{BB962C8B-B14F-4D97-AF65-F5344CB8AC3E}">
        <p14:creationId xmlns:p14="http://schemas.microsoft.com/office/powerpoint/2010/main" val="313690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Reading</a:t>
            </a:r>
          </a:p>
        </p:txBody>
      </p:sp>
      <p:sp>
        <p:nvSpPr>
          <p:cNvPr id="3" name="Content Placeholder 2"/>
          <p:cNvSpPr>
            <a:spLocks noGrp="1"/>
          </p:cNvSpPr>
          <p:nvPr>
            <p:ph idx="1"/>
          </p:nvPr>
        </p:nvSpPr>
        <p:spPr/>
        <p:txBody>
          <a:bodyPr>
            <a:normAutofit/>
          </a:bodyPr>
          <a:lstStyle/>
          <a:p>
            <a:r>
              <a:rPr lang="en-US" dirty="0"/>
              <a:t>Next glance through the tables</a:t>
            </a:r>
          </a:p>
          <a:p>
            <a:r>
              <a:rPr lang="en-US" dirty="0"/>
              <a:t>What is your interpretation of the results?</a:t>
            </a:r>
          </a:p>
          <a:p>
            <a:r>
              <a:rPr lang="en-US" dirty="0"/>
              <a:t>Now read – what is authors’ interpretation?</a:t>
            </a:r>
          </a:p>
          <a:p>
            <a:r>
              <a:rPr lang="en-US" dirty="0"/>
              <a:t>Are authors interpreting results correctly?</a:t>
            </a:r>
          </a:p>
          <a:p>
            <a:pPr lvl="1"/>
            <a:endParaRPr lang="en-US" dirty="0"/>
          </a:p>
          <a:p>
            <a:pPr lvl="1"/>
            <a:endParaRPr lang="en-US" dirty="0"/>
          </a:p>
          <a:p>
            <a:pPr lvl="1"/>
            <a:r>
              <a:rPr lang="en-US" b="1" dirty="0"/>
              <a:t>If not, why not?</a:t>
            </a:r>
          </a:p>
        </p:txBody>
      </p:sp>
      <p:sp>
        <p:nvSpPr>
          <p:cNvPr id="4" name="Oval 3"/>
          <p:cNvSpPr/>
          <p:nvPr/>
        </p:nvSpPr>
        <p:spPr>
          <a:xfrm>
            <a:off x="1266628" y="4146804"/>
            <a:ext cx="2572974" cy="70658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cxnSpLocks/>
          </p:cNvCxnSpPr>
          <p:nvPr/>
        </p:nvCxnSpPr>
        <p:spPr>
          <a:xfrm>
            <a:off x="4257964" y="4500095"/>
            <a:ext cx="159789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087387" y="4207055"/>
            <a:ext cx="2793076" cy="923330"/>
          </a:xfrm>
          <a:prstGeom prst="rect">
            <a:avLst/>
          </a:prstGeom>
          <a:noFill/>
        </p:spPr>
        <p:txBody>
          <a:bodyPr wrap="square" rtlCol="0">
            <a:spAutoFit/>
          </a:bodyPr>
          <a:lstStyle/>
          <a:p>
            <a:r>
              <a:rPr lang="en-US" b="1" dirty="0">
                <a:hlinkClick r:id="rId2">
                  <a:extLst>
                    <a:ext uri="{A12FA001-AC4F-418D-AE19-62706E023703}">
                      <ahyp:hlinkClr xmlns:ahyp="http://schemas.microsoft.com/office/drawing/2018/hyperlinkcolor" val="tx"/>
                    </a:ext>
                  </a:extLst>
                </a:hlinkClick>
              </a:rPr>
              <a:t>This could be a potential research topic for you</a:t>
            </a:r>
            <a:endParaRPr lang="en-US" b="1" dirty="0"/>
          </a:p>
        </p:txBody>
      </p:sp>
    </p:spTree>
    <p:extLst>
      <p:ext uri="{BB962C8B-B14F-4D97-AF65-F5344CB8AC3E}">
        <p14:creationId xmlns:p14="http://schemas.microsoft.com/office/powerpoint/2010/main" val="1596299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Reading</a:t>
            </a:r>
          </a:p>
        </p:txBody>
      </p:sp>
      <p:sp>
        <p:nvSpPr>
          <p:cNvPr id="3" name="Content Placeholder 2"/>
          <p:cNvSpPr>
            <a:spLocks noGrp="1"/>
          </p:cNvSpPr>
          <p:nvPr>
            <p:ph idx="1"/>
          </p:nvPr>
        </p:nvSpPr>
        <p:spPr/>
        <p:txBody>
          <a:bodyPr>
            <a:normAutofit/>
          </a:bodyPr>
          <a:lstStyle/>
          <a:p>
            <a:r>
              <a:rPr lang="en-US" dirty="0"/>
              <a:t>Next glance through the tables</a:t>
            </a:r>
          </a:p>
          <a:p>
            <a:r>
              <a:rPr lang="en-US" dirty="0"/>
              <a:t>What is your interpretation of the results?</a:t>
            </a:r>
          </a:p>
          <a:p>
            <a:r>
              <a:rPr lang="en-US" dirty="0"/>
              <a:t>Now read – what is authors’ interpretation?</a:t>
            </a:r>
          </a:p>
          <a:p>
            <a:r>
              <a:rPr lang="en-US" dirty="0"/>
              <a:t>Are authors interpreting results correctly?</a:t>
            </a:r>
          </a:p>
          <a:p>
            <a:r>
              <a:rPr lang="en-US" dirty="0"/>
              <a:t>Do the authors tests help address their main research questions?</a:t>
            </a:r>
          </a:p>
          <a:p>
            <a:r>
              <a:rPr lang="en-US" dirty="0"/>
              <a:t>Read the conclusions – do you agree with authors’ conclusions?</a:t>
            </a:r>
          </a:p>
          <a:p>
            <a:pPr lvl="1"/>
            <a:endParaRPr lang="en-US" dirty="0"/>
          </a:p>
        </p:txBody>
      </p:sp>
    </p:spTree>
    <p:extLst>
      <p:ext uri="{BB962C8B-B14F-4D97-AF65-F5344CB8AC3E}">
        <p14:creationId xmlns:p14="http://schemas.microsoft.com/office/powerpoint/2010/main" val="109371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Lets try this out….</a:t>
            </a:r>
          </a:p>
        </p:txBody>
      </p:sp>
      <p:sp>
        <p:nvSpPr>
          <p:cNvPr id="3" name="Content Placeholder 2"/>
          <p:cNvSpPr>
            <a:spLocks noGrp="1"/>
          </p:cNvSpPr>
          <p:nvPr>
            <p:ph idx="1"/>
          </p:nvPr>
        </p:nvSpPr>
        <p:spPr/>
        <p:txBody>
          <a:bodyPr/>
          <a:lstStyle/>
          <a:p>
            <a:r>
              <a:rPr lang="en-US" dirty="0"/>
              <a:t>Download </a:t>
            </a:r>
            <a:r>
              <a:rPr lang="en-US" i="1" dirty="0"/>
              <a:t>Voting Rationales </a:t>
            </a:r>
            <a:r>
              <a:rPr lang="en-US" dirty="0"/>
              <a:t>(by Michaely et al., 2026</a:t>
            </a:r>
            <a:r>
              <a:rPr lang="en-US" i="1" dirty="0"/>
              <a:t>) </a:t>
            </a:r>
            <a:r>
              <a:rPr lang="en-US" dirty="0"/>
              <a:t> from Canvas</a:t>
            </a:r>
          </a:p>
          <a:p>
            <a:r>
              <a:rPr lang="en-US" dirty="0"/>
              <a:t>Spend 15-20 minutes summarizing the paper</a:t>
            </a:r>
          </a:p>
          <a:p>
            <a:pPr lvl="1"/>
            <a:r>
              <a:rPr lang="en-US" dirty="0"/>
              <a:t>Each group to try to answer questions on slide 1</a:t>
            </a:r>
          </a:p>
          <a:p>
            <a:pPr lvl="1"/>
            <a:r>
              <a:rPr lang="en-US" i="1" dirty="0"/>
              <a:t>Main  research question</a:t>
            </a:r>
          </a:p>
          <a:p>
            <a:pPr lvl="1"/>
            <a:r>
              <a:rPr lang="en-US" i="1" dirty="0"/>
              <a:t>Importance/relevance of this question</a:t>
            </a:r>
          </a:p>
          <a:p>
            <a:pPr lvl="1"/>
            <a:r>
              <a:rPr lang="en-US" i="1" dirty="0"/>
              <a:t>How do the authors approach this question – i.e., what is the experiment?</a:t>
            </a:r>
          </a:p>
          <a:p>
            <a:pPr lvl="1"/>
            <a:r>
              <a:rPr lang="en-US" i="1" dirty="0"/>
              <a:t>Main findings</a:t>
            </a:r>
          </a:p>
          <a:p>
            <a:pPr lvl="1"/>
            <a:r>
              <a:rPr lang="en-US" i="1" dirty="0"/>
              <a:t>Incremental contribution of this paper</a:t>
            </a:r>
          </a:p>
          <a:p>
            <a:pPr lvl="1"/>
            <a:endParaRPr lang="en-US" dirty="0"/>
          </a:p>
        </p:txBody>
      </p:sp>
    </p:spTree>
    <p:extLst>
      <p:ext uri="{BB962C8B-B14F-4D97-AF65-F5344CB8AC3E}">
        <p14:creationId xmlns:p14="http://schemas.microsoft.com/office/powerpoint/2010/main" val="2125995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Cochrane on writing well…</a:t>
            </a:r>
          </a:p>
        </p:txBody>
      </p:sp>
      <p:pic>
        <p:nvPicPr>
          <p:cNvPr id="6" name="Content Placeholder 5"/>
          <p:cNvPicPr>
            <a:picLocks noGrp="1" noChangeAspect="1"/>
          </p:cNvPicPr>
          <p:nvPr>
            <p:ph idx="1"/>
          </p:nvPr>
        </p:nvPicPr>
        <p:blipFill>
          <a:blip r:embed="rId2"/>
          <a:stretch>
            <a:fillRect/>
          </a:stretch>
        </p:blipFill>
        <p:spPr>
          <a:xfrm>
            <a:off x="480753" y="2061707"/>
            <a:ext cx="10515600" cy="1352105"/>
          </a:xfrm>
          <a:prstGeom prst="rect">
            <a:avLst/>
          </a:prstGeom>
        </p:spPr>
      </p:pic>
      <p:pic>
        <p:nvPicPr>
          <p:cNvPr id="7" name="Picture 6"/>
          <p:cNvPicPr>
            <a:picLocks noChangeAspect="1"/>
          </p:cNvPicPr>
          <p:nvPr/>
        </p:nvPicPr>
        <p:blipFill>
          <a:blip r:embed="rId3"/>
          <a:stretch>
            <a:fillRect/>
          </a:stretch>
        </p:blipFill>
        <p:spPr>
          <a:xfrm>
            <a:off x="623456" y="3635201"/>
            <a:ext cx="9988458" cy="1668319"/>
          </a:xfrm>
          <a:prstGeom prst="rect">
            <a:avLst/>
          </a:prstGeom>
        </p:spPr>
      </p:pic>
    </p:spTree>
    <p:extLst>
      <p:ext uri="{BB962C8B-B14F-4D97-AF65-F5344CB8AC3E}">
        <p14:creationId xmlns:p14="http://schemas.microsoft.com/office/powerpoint/2010/main" val="1882957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3600" b="1" dirty="0">
                <a:latin typeface="+mn-lt"/>
              </a:rPr>
              <a:t>Writing: </a:t>
            </a:r>
            <a:br>
              <a:rPr lang="en-US" sz="3600" b="1" dirty="0">
                <a:latin typeface="+mn-lt"/>
              </a:rPr>
            </a:br>
            <a:r>
              <a:rPr lang="en-US" sz="3600" b="1" dirty="0">
                <a:latin typeface="+mn-lt"/>
              </a:rPr>
              <a:t>The research statement</a:t>
            </a:r>
          </a:p>
        </p:txBody>
      </p:sp>
      <p:sp>
        <p:nvSpPr>
          <p:cNvPr id="3" name="Content Placeholder 2"/>
          <p:cNvSpPr>
            <a:spLocks noGrp="1"/>
          </p:cNvSpPr>
          <p:nvPr>
            <p:ph idx="1"/>
          </p:nvPr>
        </p:nvSpPr>
        <p:spPr/>
        <p:txBody>
          <a:bodyPr>
            <a:normAutofit/>
          </a:bodyPr>
          <a:lstStyle/>
          <a:p>
            <a:pPr lvl="1"/>
            <a:r>
              <a:rPr lang="en-US" sz="2800" dirty="0"/>
              <a:t>What does the paper do? </a:t>
            </a:r>
          </a:p>
          <a:p>
            <a:pPr lvl="1"/>
            <a:r>
              <a:rPr lang="en-US" sz="2800" dirty="0"/>
              <a:t>Explain as concisely and clearly as possibly</a:t>
            </a:r>
          </a:p>
          <a:p>
            <a:pPr lvl="1"/>
            <a:endParaRPr lang="en-US" dirty="0"/>
          </a:p>
          <a:p>
            <a:pPr lvl="1"/>
            <a:endParaRPr lang="en-US" dirty="0"/>
          </a:p>
        </p:txBody>
      </p:sp>
    </p:spTree>
    <p:extLst>
      <p:ext uri="{BB962C8B-B14F-4D97-AF65-F5344CB8AC3E}">
        <p14:creationId xmlns:p14="http://schemas.microsoft.com/office/powerpoint/2010/main" val="405792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research statement</a:t>
            </a:r>
          </a:p>
        </p:txBody>
      </p:sp>
      <p:sp>
        <p:nvSpPr>
          <p:cNvPr id="3" name="Content Placeholder 2"/>
          <p:cNvSpPr>
            <a:spLocks noGrp="1"/>
          </p:cNvSpPr>
          <p:nvPr>
            <p:ph idx="1"/>
          </p:nvPr>
        </p:nvSpPr>
        <p:spPr/>
        <p:txBody>
          <a:bodyPr>
            <a:normAutofit fontScale="92500"/>
          </a:bodyPr>
          <a:lstStyle/>
          <a:p>
            <a:r>
              <a:rPr lang="en-US" sz="2400" dirty="0"/>
              <a:t>“The purpose of our research is to examine whether and how customer satisfaction    ratings are potentially influenced by gender and racial bias……</a:t>
            </a:r>
            <a:r>
              <a:rPr lang="en-US" sz="2600" dirty="0"/>
              <a:t>. 				</a:t>
            </a:r>
            <a:r>
              <a:rPr lang="en-US" i="1" dirty="0" err="1"/>
              <a:t>Hekman</a:t>
            </a:r>
            <a:r>
              <a:rPr lang="en-US" i="1" dirty="0"/>
              <a:t> et al., AMJ,  2010</a:t>
            </a:r>
          </a:p>
          <a:p>
            <a:endParaRPr lang="en-US" dirty="0"/>
          </a:p>
          <a:p>
            <a:r>
              <a:rPr lang="en-US" sz="2400" dirty="0"/>
              <a:t>“In this article, we study incumbent stores' reactions to a Wal-Mart entry into their local markets and the consequences of these reactions for the stores' sales outcomes. The specific objectives are (1) to quantify how incumbents change their pricing, promotion, and product assortment in reaction to the entry and how their sales are affected by the entry; (2) to examine how these reactions and sales outcomes vary across retail formats, stores, and product categories; and (3) to investigate whether and how incumbents' reactions influence their sales outcomes” </a:t>
            </a:r>
            <a:r>
              <a:rPr lang="en-US" i="1" dirty="0" err="1"/>
              <a:t>Ailawadi</a:t>
            </a:r>
            <a:r>
              <a:rPr lang="en-US" i="1" dirty="0"/>
              <a:t> et al., JMR, 2010</a:t>
            </a:r>
          </a:p>
        </p:txBody>
      </p:sp>
    </p:spTree>
    <p:extLst>
      <p:ext uri="{BB962C8B-B14F-4D97-AF65-F5344CB8AC3E}">
        <p14:creationId xmlns:p14="http://schemas.microsoft.com/office/powerpoint/2010/main" val="3289556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research statement</a:t>
            </a:r>
          </a:p>
        </p:txBody>
      </p:sp>
      <p:sp>
        <p:nvSpPr>
          <p:cNvPr id="3" name="Content Placeholder 2"/>
          <p:cNvSpPr>
            <a:spLocks noGrp="1"/>
          </p:cNvSpPr>
          <p:nvPr>
            <p:ph idx="1"/>
          </p:nvPr>
        </p:nvSpPr>
        <p:spPr/>
        <p:txBody>
          <a:bodyPr>
            <a:normAutofit/>
          </a:bodyPr>
          <a:lstStyle/>
          <a:p>
            <a:r>
              <a:rPr lang="en-US" dirty="0"/>
              <a:t>“In this paper, we synthesize information for 97 characteristics shown to predict cross‐sectional stock returns in peer‐reviewed finance, accounting, and economics journals. Our goal is to better understand what happens to return predictability outside a study's sample period. 		…..</a:t>
            </a:r>
            <a:r>
              <a:rPr lang="en-US" i="1" dirty="0"/>
              <a:t>Mclean and Pontiff, JF, 2015</a:t>
            </a:r>
          </a:p>
        </p:txBody>
      </p:sp>
    </p:spTree>
    <p:extLst>
      <p:ext uri="{BB962C8B-B14F-4D97-AF65-F5344CB8AC3E}">
        <p14:creationId xmlns:p14="http://schemas.microsoft.com/office/powerpoint/2010/main" val="150731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research statement</a:t>
            </a:r>
          </a:p>
        </p:txBody>
      </p:sp>
      <p:sp>
        <p:nvSpPr>
          <p:cNvPr id="3" name="Content Placeholder 2"/>
          <p:cNvSpPr>
            <a:spLocks noGrp="1"/>
          </p:cNvSpPr>
          <p:nvPr>
            <p:ph idx="1"/>
          </p:nvPr>
        </p:nvSpPr>
        <p:spPr/>
        <p:txBody>
          <a:bodyPr/>
          <a:lstStyle/>
          <a:p>
            <a:r>
              <a:rPr lang="en-US" dirty="0"/>
              <a:t>“The question we address is whether application of International Accounting Standards (IAS) is associated with higher accounting quality than application of non‐U.S. domestic standards. In particular, we investigate whether accounting amounts of firms that apply IAS exhibit less earnings management, more timely loss recognition, and higher value relevance than accounting amounts of firms that apply domestic standards.…” 			</a:t>
            </a:r>
            <a:r>
              <a:rPr lang="en-US" i="1" dirty="0"/>
              <a:t>Barth et al., 2008</a:t>
            </a:r>
          </a:p>
        </p:txBody>
      </p:sp>
    </p:spTree>
    <p:extLst>
      <p:ext uri="{BB962C8B-B14F-4D97-AF65-F5344CB8AC3E}">
        <p14:creationId xmlns:p14="http://schemas.microsoft.com/office/powerpoint/2010/main" val="1196588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3600" b="1" dirty="0">
                <a:latin typeface="+mn-lt"/>
              </a:rPr>
              <a:t>Writing: </a:t>
            </a:r>
            <a:br>
              <a:rPr lang="en-US" sz="3600" b="1" dirty="0">
                <a:latin typeface="+mn-lt"/>
              </a:rPr>
            </a:br>
            <a:r>
              <a:rPr lang="en-US" sz="3600" b="1" dirty="0">
                <a:latin typeface="+mn-lt"/>
              </a:rPr>
              <a:t>The Contribution</a:t>
            </a:r>
          </a:p>
        </p:txBody>
      </p:sp>
      <p:sp>
        <p:nvSpPr>
          <p:cNvPr id="3" name="Content Placeholder 2"/>
          <p:cNvSpPr>
            <a:spLocks noGrp="1"/>
          </p:cNvSpPr>
          <p:nvPr>
            <p:ph idx="1"/>
          </p:nvPr>
        </p:nvSpPr>
        <p:spPr/>
        <p:txBody>
          <a:bodyPr>
            <a:normAutofit/>
          </a:bodyPr>
          <a:lstStyle/>
          <a:p>
            <a:pPr lvl="1"/>
            <a:endParaRPr lang="en-US" dirty="0"/>
          </a:p>
          <a:p>
            <a:pPr lvl="1"/>
            <a:endParaRPr lang="en-US" dirty="0"/>
          </a:p>
          <a:p>
            <a:r>
              <a:rPr lang="en-US" dirty="0"/>
              <a:t>What is the contribution (i.e., “what am I learning?”)?</a:t>
            </a:r>
          </a:p>
          <a:p>
            <a:pPr lvl="1"/>
            <a:r>
              <a:rPr lang="en-US" b="1" dirty="0"/>
              <a:t>CONTRIBUTION IS WHAT CAUSES PAPER TO BE PUBLISHED</a:t>
            </a:r>
          </a:p>
          <a:p>
            <a:pPr lvl="1"/>
            <a:r>
              <a:rPr lang="en-US" b="1" dirty="0"/>
              <a:t>CONTRIBUTION IS WHAT LEADS TO IMPACT</a:t>
            </a:r>
          </a:p>
        </p:txBody>
      </p:sp>
    </p:spTree>
    <p:extLst>
      <p:ext uri="{BB962C8B-B14F-4D97-AF65-F5344CB8AC3E}">
        <p14:creationId xmlns:p14="http://schemas.microsoft.com/office/powerpoint/2010/main" val="883956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Contribution</a:t>
            </a:r>
          </a:p>
        </p:txBody>
      </p:sp>
      <p:sp>
        <p:nvSpPr>
          <p:cNvPr id="3" name="Content Placeholder 2"/>
          <p:cNvSpPr>
            <a:spLocks noGrp="1"/>
          </p:cNvSpPr>
          <p:nvPr>
            <p:ph idx="1"/>
          </p:nvPr>
        </p:nvSpPr>
        <p:spPr/>
        <p:txBody>
          <a:bodyPr>
            <a:normAutofit fontScale="70000" lnSpcReduction="20000"/>
          </a:bodyPr>
          <a:lstStyle/>
          <a:p>
            <a:r>
              <a:rPr lang="en-US" dirty="0"/>
              <a:t>“The purpose of our research is to examine whether and how customer satisfaction    ratings are potentially influenced by gender and racial bias……. </a:t>
            </a:r>
          </a:p>
          <a:p>
            <a:pPr marL="0" indent="0">
              <a:buNone/>
            </a:pPr>
            <a:endParaRPr lang="en-US" dirty="0"/>
          </a:p>
          <a:p>
            <a:pPr marL="0" lvl="1" indent="0">
              <a:spcBef>
                <a:spcPts val="1200"/>
              </a:spcBef>
              <a:buNone/>
            </a:pPr>
            <a:r>
              <a:rPr lang="en-US" sz="3100" dirty="0">
                <a:solidFill>
                  <a:srgbClr val="FF0000"/>
                </a:solidFill>
              </a:rPr>
              <a:t>Finding empirical evidence of racial or gender biases in customer satisfaction would suggest that organizations have a financial incentive to favor white or male employees. Such a finding may help explain the persistent inequality between demographic groups in the workplace.” </a:t>
            </a:r>
          </a:p>
          <a:p>
            <a:endParaRPr lang="en-US" dirty="0"/>
          </a:p>
          <a:p>
            <a:r>
              <a:rPr lang="en-US" dirty="0"/>
              <a:t>“In this article, we study incumbent stores' reactions to a Wal-Mart entry into their local markets and the consequences of these reactions for the stores' sales outcomes. The specific objectives are (1) to quantify how incumbents change their pricing, promotion, and product assortment in reaction to the entry and how their sales are affected by the entry; (2) to examine how these reactions and sales outcomes vary across retail formats, stores, and product categories; and (3) to investigate whether and how incumbents' reactions influence their sales outcomes.</a:t>
            </a:r>
          </a:p>
          <a:p>
            <a:pPr marL="0" indent="0">
              <a:buNone/>
            </a:pPr>
            <a:r>
              <a:rPr lang="en-US" dirty="0"/>
              <a:t>      </a:t>
            </a:r>
            <a:endParaRPr lang="en-US" sz="2600" dirty="0"/>
          </a:p>
          <a:p>
            <a:pPr marL="0" indent="0">
              <a:buNone/>
            </a:pPr>
            <a:r>
              <a:rPr lang="en-US" sz="2600" dirty="0"/>
              <a:t>      </a:t>
            </a:r>
            <a:r>
              <a:rPr lang="en-US" sz="3200" dirty="0">
                <a:solidFill>
                  <a:srgbClr val="FF0000"/>
                </a:solidFill>
              </a:rPr>
              <a:t>……This paper makes several contributions to the literature on response to large store  entry. 	First,…..” 			</a:t>
            </a:r>
            <a:endParaRPr lang="en-US" sz="3200" i="1" dirty="0">
              <a:solidFill>
                <a:srgbClr val="FF0000"/>
              </a:solidFill>
            </a:endParaRPr>
          </a:p>
        </p:txBody>
      </p:sp>
    </p:spTree>
    <p:extLst>
      <p:ext uri="{BB962C8B-B14F-4D97-AF65-F5344CB8AC3E}">
        <p14:creationId xmlns:p14="http://schemas.microsoft.com/office/powerpoint/2010/main" val="47065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Contribution</a:t>
            </a:r>
          </a:p>
        </p:txBody>
      </p:sp>
      <p:sp>
        <p:nvSpPr>
          <p:cNvPr id="3" name="Content Placeholder 2"/>
          <p:cNvSpPr>
            <a:spLocks noGrp="1"/>
          </p:cNvSpPr>
          <p:nvPr>
            <p:ph idx="1"/>
          </p:nvPr>
        </p:nvSpPr>
        <p:spPr/>
        <p:txBody>
          <a:bodyPr>
            <a:normAutofit/>
          </a:bodyPr>
          <a:lstStyle/>
          <a:p>
            <a:pPr marL="0" lvl="1" indent="0">
              <a:lnSpc>
                <a:spcPct val="70000"/>
              </a:lnSpc>
              <a:spcBef>
                <a:spcPts val="1200"/>
              </a:spcBef>
              <a:buNone/>
            </a:pPr>
            <a:r>
              <a:rPr lang="en-US" dirty="0"/>
              <a:t>“In this paper, we synthesize information for 97 characteristics shown to predict cross‐sectional stock returns in peer‐reviewed finance, accounting, and economics journals. Our goal is to better understand what happens to return predictability outside a study's sample period. </a:t>
            </a:r>
          </a:p>
          <a:p>
            <a:pPr marL="0" lvl="1" indent="0">
              <a:lnSpc>
                <a:spcPct val="70000"/>
              </a:lnSpc>
              <a:spcBef>
                <a:spcPts val="1200"/>
              </a:spcBef>
              <a:buNone/>
            </a:pPr>
            <a:endParaRPr lang="en-US" sz="1900" dirty="0">
              <a:solidFill>
                <a:srgbClr val="FF0000"/>
              </a:solidFill>
            </a:endParaRPr>
          </a:p>
          <a:p>
            <a:pPr marL="0" lvl="1" indent="0">
              <a:lnSpc>
                <a:spcPct val="70000"/>
              </a:lnSpc>
              <a:spcBef>
                <a:spcPts val="1200"/>
              </a:spcBef>
              <a:buNone/>
            </a:pPr>
            <a:r>
              <a:rPr lang="en-US" sz="2000" dirty="0">
                <a:solidFill>
                  <a:srgbClr val="FF0000"/>
                </a:solidFill>
              </a:rPr>
              <a:t>……our results suggest that academic publications transmit information to 	sophisticated investors” </a:t>
            </a:r>
          </a:p>
        </p:txBody>
      </p:sp>
    </p:spTree>
    <p:extLst>
      <p:ext uri="{BB962C8B-B14F-4D97-AF65-F5344CB8AC3E}">
        <p14:creationId xmlns:p14="http://schemas.microsoft.com/office/powerpoint/2010/main" val="3612849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Contribution</a:t>
            </a:r>
          </a:p>
        </p:txBody>
      </p:sp>
      <p:sp>
        <p:nvSpPr>
          <p:cNvPr id="3" name="Content Placeholder 2"/>
          <p:cNvSpPr>
            <a:spLocks noGrp="1"/>
          </p:cNvSpPr>
          <p:nvPr>
            <p:ph idx="1"/>
          </p:nvPr>
        </p:nvSpPr>
        <p:spPr/>
        <p:txBody>
          <a:bodyPr/>
          <a:lstStyle/>
          <a:p>
            <a:r>
              <a:rPr lang="en-US" dirty="0"/>
              <a:t>“The question we address is whether application of International Accounting Standards (IAS) is associated with higher accounting quality than application of non‐U.S. domestic standards.</a:t>
            </a:r>
            <a:r>
              <a:rPr lang="en-US" b="1" i="1" u="sng" dirty="0">
                <a:hlinkClick r:id="rId2"/>
              </a:rPr>
              <a:t>1</a:t>
            </a:r>
            <a:r>
              <a:rPr lang="en-US" dirty="0"/>
              <a:t> In particular, we investigate whether accounting amounts of firms that apply IAS exhibit less earnings management, more timely loss recognition, and higher value relevance than accounting amounts of firms that apply domestic standards.</a:t>
            </a:r>
          </a:p>
          <a:p>
            <a:pPr marL="0" lvl="1" indent="0">
              <a:lnSpc>
                <a:spcPct val="70000"/>
              </a:lnSpc>
              <a:spcBef>
                <a:spcPts val="1200"/>
              </a:spcBef>
              <a:buNone/>
            </a:pPr>
            <a:r>
              <a:rPr lang="en-US" sz="2000" dirty="0">
                <a:solidFill>
                  <a:srgbClr val="FF0000"/>
                </a:solidFill>
              </a:rPr>
              <a:t>……We contribute to the literature examining the quality of IAS‐based accounting amounts in two ways. First,…”</a:t>
            </a:r>
          </a:p>
        </p:txBody>
      </p:sp>
      <p:sp>
        <p:nvSpPr>
          <p:cNvPr id="4" name="Footer Placeholder 3"/>
          <p:cNvSpPr>
            <a:spLocks noGrp="1"/>
          </p:cNvSpPr>
          <p:nvPr>
            <p:ph type="ftr" sz="quarter" idx="11"/>
          </p:nvPr>
        </p:nvSpPr>
        <p:spPr/>
        <p:txBody>
          <a:bodyPr/>
          <a:lstStyle/>
          <a:p>
            <a:r>
              <a:rPr lang="en-US"/>
              <a:t>FOX Executive DBA </a:t>
            </a:r>
          </a:p>
        </p:txBody>
      </p:sp>
    </p:spTree>
    <p:extLst>
      <p:ext uri="{BB962C8B-B14F-4D97-AF65-F5344CB8AC3E}">
        <p14:creationId xmlns:p14="http://schemas.microsoft.com/office/powerpoint/2010/main" val="651900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a:t>
            </a:r>
            <a:r>
              <a:rPr lang="en-US" sz="4000" b="1" dirty="0" err="1">
                <a:latin typeface="+mn-lt"/>
              </a:rPr>
              <a:t>CONTRIBUTIOn</a:t>
            </a:r>
            <a:endParaRPr lang="en-US" sz="4000" b="1" dirty="0">
              <a:latin typeface="+mn-lt"/>
            </a:endParaRPr>
          </a:p>
        </p:txBody>
      </p:sp>
      <p:sp>
        <p:nvSpPr>
          <p:cNvPr id="3" name="Content Placeholder 2"/>
          <p:cNvSpPr>
            <a:spLocks noGrp="1"/>
          </p:cNvSpPr>
          <p:nvPr>
            <p:ph idx="1"/>
          </p:nvPr>
        </p:nvSpPr>
        <p:spPr/>
        <p:txBody>
          <a:bodyPr>
            <a:normAutofit lnSpcReduction="10000"/>
          </a:bodyPr>
          <a:lstStyle/>
          <a:p>
            <a:r>
              <a:rPr lang="en-US" dirty="0"/>
              <a:t>Contribution is something that significantly advances our understanding of how the world works</a:t>
            </a:r>
          </a:p>
          <a:p>
            <a:endParaRPr lang="en-US" dirty="0"/>
          </a:p>
          <a:p>
            <a:pPr marL="0" indent="0">
              <a:buNone/>
            </a:pPr>
            <a:r>
              <a:rPr lang="en-US" dirty="0"/>
              <a:t>My JFE (2006) </a:t>
            </a:r>
          </a:p>
          <a:p>
            <a:r>
              <a:rPr lang="en-US" dirty="0"/>
              <a:t> Before: People unsure whether options made managers increase risk. </a:t>
            </a:r>
          </a:p>
          <a:p>
            <a:r>
              <a:rPr lang="en-US" dirty="0"/>
              <a:t> After: Vega from options </a:t>
            </a:r>
            <a:r>
              <a:rPr lang="en-US" u="sng" dirty="0"/>
              <a:t>causes </a:t>
            </a:r>
            <a:r>
              <a:rPr lang="en-US" dirty="0"/>
              <a:t>increased risk-taking. </a:t>
            </a:r>
          </a:p>
          <a:p>
            <a:endParaRPr lang="en-US" dirty="0"/>
          </a:p>
          <a:p>
            <a:pPr marL="0" indent="0">
              <a:buNone/>
            </a:pPr>
            <a:r>
              <a:rPr lang="en-US" dirty="0"/>
              <a:t> My JFE (2008) </a:t>
            </a:r>
          </a:p>
          <a:p>
            <a:r>
              <a:rPr lang="en-US" dirty="0"/>
              <a:t> Before: People thought that large boards hurt firms. </a:t>
            </a:r>
          </a:p>
          <a:p>
            <a:r>
              <a:rPr lang="en-US" dirty="0"/>
              <a:t> After: Large boards are not always bad; they are beneficial for complex firms.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74699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a:t>
            </a:r>
            <a:r>
              <a:rPr lang="en-US" sz="4000" b="1" dirty="0" err="1">
                <a:latin typeface="+mn-lt"/>
              </a:rPr>
              <a:t>CONTRIBUTIOn</a:t>
            </a:r>
            <a:endParaRPr lang="en-US" sz="4000" b="1" dirty="0">
              <a:latin typeface="+mn-lt"/>
            </a:endParaRPr>
          </a:p>
        </p:txBody>
      </p:sp>
      <p:sp>
        <p:nvSpPr>
          <p:cNvPr id="3" name="Content Placeholder 2"/>
          <p:cNvSpPr>
            <a:spLocks noGrp="1"/>
          </p:cNvSpPr>
          <p:nvPr>
            <p:ph idx="1"/>
          </p:nvPr>
        </p:nvSpPr>
        <p:spPr>
          <a:xfrm>
            <a:off x="1069847" y="2121408"/>
            <a:ext cx="10992843" cy="4050792"/>
          </a:xfrm>
        </p:spPr>
        <p:txBody>
          <a:bodyPr>
            <a:normAutofit lnSpcReduction="10000"/>
          </a:bodyPr>
          <a:lstStyle/>
          <a:p>
            <a:r>
              <a:rPr lang="en-US" dirty="0"/>
              <a:t>Contribution is something that significantly advances our understanding of how the world works</a:t>
            </a:r>
          </a:p>
          <a:p>
            <a:endParaRPr lang="en-US" dirty="0"/>
          </a:p>
          <a:p>
            <a:pPr marL="0" indent="0">
              <a:buNone/>
            </a:pPr>
            <a:r>
              <a:rPr lang="en-US" dirty="0"/>
              <a:t> My RFS (2014) </a:t>
            </a:r>
          </a:p>
          <a:p>
            <a:r>
              <a:rPr lang="en-US" dirty="0"/>
              <a:t> Before: Independent directors were good monitors. </a:t>
            </a:r>
          </a:p>
          <a:p>
            <a:r>
              <a:rPr lang="en-US" dirty="0"/>
              <a:t> After: Not all independent directors are good monitors - Those that are co-opted are not. </a:t>
            </a:r>
          </a:p>
          <a:p>
            <a:endParaRPr lang="en-US" dirty="0"/>
          </a:p>
          <a:p>
            <a:pPr marL="0" indent="0">
              <a:buNone/>
            </a:pPr>
            <a:r>
              <a:rPr lang="en-US" dirty="0"/>
              <a:t> My RFS (2020) </a:t>
            </a:r>
          </a:p>
          <a:p>
            <a:r>
              <a:rPr lang="en-US" dirty="0"/>
              <a:t> Before: Pay for luck exists and it is consistent with rent extraction by CEOs. </a:t>
            </a:r>
          </a:p>
          <a:p>
            <a:r>
              <a:rPr lang="en-US" dirty="0"/>
              <a:t> After: Pay for luck does not exist.</a:t>
            </a:r>
          </a:p>
          <a:p>
            <a:endParaRPr lang="en-US" dirty="0"/>
          </a:p>
          <a:p>
            <a:endParaRPr lang="en-US" dirty="0"/>
          </a:p>
          <a:p>
            <a:endParaRPr lang="en-US" dirty="0"/>
          </a:p>
        </p:txBody>
      </p:sp>
    </p:spTree>
    <p:extLst>
      <p:ext uri="{BB962C8B-B14F-4D97-AF65-F5344CB8AC3E}">
        <p14:creationId xmlns:p14="http://schemas.microsoft.com/office/powerpoint/2010/main" val="2603250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the </a:t>
            </a:r>
            <a:r>
              <a:rPr lang="en-US" sz="4000" b="1" dirty="0" err="1">
                <a:latin typeface="+mn-lt"/>
              </a:rPr>
              <a:t>INNOVATIOn</a:t>
            </a:r>
            <a:endParaRPr lang="en-US" sz="4000" b="1" dirty="0">
              <a:latin typeface="+mn-lt"/>
            </a:endParaRPr>
          </a:p>
        </p:txBody>
      </p:sp>
      <p:sp>
        <p:nvSpPr>
          <p:cNvPr id="3" name="Content Placeholder 2"/>
          <p:cNvSpPr>
            <a:spLocks noGrp="1"/>
          </p:cNvSpPr>
          <p:nvPr>
            <p:ph idx="1"/>
          </p:nvPr>
        </p:nvSpPr>
        <p:spPr>
          <a:xfrm>
            <a:off x="1069847" y="2121408"/>
            <a:ext cx="10992843" cy="4050792"/>
          </a:xfrm>
        </p:spPr>
        <p:txBody>
          <a:bodyPr>
            <a:normAutofit/>
          </a:bodyPr>
          <a:lstStyle/>
          <a:p>
            <a:pPr marL="0" indent="0">
              <a:buNone/>
            </a:pPr>
            <a:r>
              <a:rPr lang="en-US" sz="3200" dirty="0"/>
              <a:t>Innovation could come from a </a:t>
            </a:r>
            <a:r>
              <a:rPr lang="en-US" sz="3200" u="sng" dirty="0"/>
              <a:t>new or different:</a:t>
            </a:r>
          </a:p>
          <a:p>
            <a:pPr marL="457200" indent="-457200">
              <a:buFont typeface="+mj-lt"/>
              <a:buAutoNum type="arabicPeriod"/>
            </a:pPr>
            <a:r>
              <a:rPr lang="en-US" sz="3200" dirty="0"/>
              <a:t>Research Question (JAE, 2008)</a:t>
            </a:r>
          </a:p>
          <a:p>
            <a:pPr marL="457200" indent="-457200">
              <a:buFont typeface="+mj-lt"/>
              <a:buAutoNum type="arabicPeriod"/>
            </a:pPr>
            <a:r>
              <a:rPr lang="en-US" sz="3200" dirty="0"/>
              <a:t>Hypotheses (JFE, 2008)</a:t>
            </a:r>
          </a:p>
          <a:p>
            <a:pPr marL="457200" indent="-457200">
              <a:buFont typeface="+mj-lt"/>
              <a:buAutoNum type="arabicPeriod"/>
            </a:pPr>
            <a:r>
              <a:rPr lang="en-US" sz="3200" dirty="0"/>
              <a:t>Research Design (JFE, 2006)</a:t>
            </a:r>
          </a:p>
          <a:p>
            <a:pPr marL="457200" indent="-457200">
              <a:buFont typeface="+mj-lt"/>
              <a:buAutoNum type="arabicPeriod"/>
            </a:pPr>
            <a:r>
              <a:rPr lang="en-US" sz="3200" dirty="0"/>
              <a:t>Findings (RFS, 2019, Guthrie et al., JF 2012) </a:t>
            </a:r>
          </a:p>
          <a:p>
            <a:pPr marL="0" indent="0">
              <a:buNone/>
            </a:pPr>
            <a:endParaRPr lang="en-US" sz="3200" dirty="0"/>
          </a:p>
          <a:p>
            <a:endParaRPr lang="en-US" dirty="0"/>
          </a:p>
          <a:p>
            <a:endParaRPr lang="en-US" dirty="0"/>
          </a:p>
          <a:p>
            <a:endParaRPr lang="en-US" dirty="0"/>
          </a:p>
        </p:txBody>
      </p:sp>
    </p:spTree>
    <p:extLst>
      <p:ext uri="{BB962C8B-B14F-4D97-AF65-F5344CB8AC3E}">
        <p14:creationId xmlns:p14="http://schemas.microsoft.com/office/powerpoint/2010/main" val="1068575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General</a:t>
            </a:r>
          </a:p>
        </p:txBody>
      </p:sp>
      <p:sp>
        <p:nvSpPr>
          <p:cNvPr id="3" name="Content Placeholder 2"/>
          <p:cNvSpPr>
            <a:spLocks noGrp="1"/>
          </p:cNvSpPr>
          <p:nvPr>
            <p:ph idx="1"/>
          </p:nvPr>
        </p:nvSpPr>
        <p:spPr/>
        <p:txBody>
          <a:bodyPr>
            <a:normAutofit/>
          </a:bodyPr>
          <a:lstStyle/>
          <a:p>
            <a:r>
              <a:rPr lang="en-US" sz="3600" dirty="0"/>
              <a:t>General</a:t>
            </a:r>
          </a:p>
          <a:p>
            <a:pPr lvl="1"/>
            <a:r>
              <a:rPr lang="en-US" sz="3200" dirty="0"/>
              <a:t>Active tense</a:t>
            </a:r>
          </a:p>
          <a:p>
            <a:pPr lvl="1"/>
            <a:r>
              <a:rPr lang="en-US" sz="3200" dirty="0"/>
              <a:t>Present tense</a:t>
            </a:r>
          </a:p>
        </p:txBody>
      </p:sp>
    </p:spTree>
    <p:extLst>
      <p:ext uri="{BB962C8B-B14F-4D97-AF65-F5344CB8AC3E}">
        <p14:creationId xmlns:p14="http://schemas.microsoft.com/office/powerpoint/2010/main" val="2040623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a:t>
            </a:r>
            <a:r>
              <a:rPr lang="en-US" sz="4000" b="1" dirty="0" err="1">
                <a:latin typeface="+mn-lt"/>
              </a:rPr>
              <a:t>INTRODUCTIOn</a:t>
            </a:r>
            <a:endParaRPr lang="en-US" sz="4000" b="1" dirty="0">
              <a:latin typeface="+mn-lt"/>
            </a:endParaRPr>
          </a:p>
        </p:txBody>
      </p:sp>
      <p:sp>
        <p:nvSpPr>
          <p:cNvPr id="3" name="Content Placeholder 2"/>
          <p:cNvSpPr>
            <a:spLocks noGrp="1"/>
          </p:cNvSpPr>
          <p:nvPr>
            <p:ph idx="1"/>
          </p:nvPr>
        </p:nvSpPr>
        <p:spPr/>
        <p:txBody>
          <a:bodyPr>
            <a:normAutofit/>
          </a:bodyPr>
          <a:lstStyle/>
          <a:p>
            <a:r>
              <a:rPr lang="en-US" sz="3200" dirty="0"/>
              <a:t>Introduction</a:t>
            </a:r>
          </a:p>
          <a:p>
            <a:pPr lvl="1"/>
            <a:r>
              <a:rPr lang="en-US" sz="2800" dirty="0"/>
              <a:t>What you do</a:t>
            </a:r>
          </a:p>
          <a:p>
            <a:pPr lvl="1"/>
            <a:r>
              <a:rPr lang="en-US" sz="2800" dirty="0"/>
              <a:t>Why we should care</a:t>
            </a:r>
          </a:p>
          <a:p>
            <a:pPr lvl="1"/>
            <a:r>
              <a:rPr lang="en-US" sz="2800" dirty="0"/>
              <a:t>Elaborate on data used, methodology (if unique), main results</a:t>
            </a:r>
          </a:p>
          <a:p>
            <a:pPr lvl="1"/>
            <a:r>
              <a:rPr lang="en-US" sz="2800" dirty="0"/>
              <a:t>Place this in context of literature</a:t>
            </a:r>
          </a:p>
          <a:p>
            <a:pPr lvl="1"/>
            <a:endParaRPr lang="en-US" sz="2000" dirty="0"/>
          </a:p>
          <a:p>
            <a:endParaRPr lang="en-US" dirty="0"/>
          </a:p>
        </p:txBody>
      </p:sp>
    </p:spTree>
    <p:extLst>
      <p:ext uri="{BB962C8B-B14F-4D97-AF65-F5344CB8AC3E}">
        <p14:creationId xmlns:p14="http://schemas.microsoft.com/office/powerpoint/2010/main" val="396348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Related literature</a:t>
            </a:r>
          </a:p>
        </p:txBody>
      </p:sp>
      <p:sp>
        <p:nvSpPr>
          <p:cNvPr id="3" name="Content Placeholder 2"/>
          <p:cNvSpPr>
            <a:spLocks noGrp="1"/>
          </p:cNvSpPr>
          <p:nvPr>
            <p:ph idx="1"/>
          </p:nvPr>
        </p:nvSpPr>
        <p:spPr/>
        <p:txBody>
          <a:bodyPr>
            <a:normAutofit/>
          </a:bodyPr>
          <a:lstStyle/>
          <a:p>
            <a:r>
              <a:rPr lang="en-US" sz="2800" dirty="0"/>
              <a:t>Literature Review</a:t>
            </a:r>
          </a:p>
          <a:p>
            <a:pPr lvl="1"/>
            <a:r>
              <a:rPr lang="en-US" sz="2400" dirty="0"/>
              <a:t>Only relevant literature </a:t>
            </a:r>
          </a:p>
          <a:p>
            <a:pPr lvl="1"/>
            <a:r>
              <a:rPr lang="en-US" sz="2400" dirty="0"/>
              <a:t>How does your paper fit in?</a:t>
            </a:r>
          </a:p>
          <a:p>
            <a:pPr lvl="2"/>
            <a:r>
              <a:rPr lang="en-US" sz="2000" dirty="0"/>
              <a:t>New data?</a:t>
            </a:r>
          </a:p>
          <a:p>
            <a:pPr lvl="2"/>
            <a:r>
              <a:rPr lang="en-US" sz="2000" dirty="0"/>
              <a:t>New model?</a:t>
            </a:r>
          </a:p>
          <a:p>
            <a:pPr lvl="2"/>
            <a:r>
              <a:rPr lang="en-US" sz="2000" dirty="0"/>
              <a:t>New identification strategy?</a:t>
            </a:r>
          </a:p>
          <a:p>
            <a:pPr lvl="1"/>
            <a:r>
              <a:rPr lang="en-US" sz="2400" dirty="0"/>
              <a:t>Papers more directly from your field</a:t>
            </a:r>
          </a:p>
          <a:p>
            <a:pPr lvl="1"/>
            <a:r>
              <a:rPr lang="en-US" sz="2400" dirty="0"/>
              <a:t>Papers from reasonable journals</a:t>
            </a:r>
          </a:p>
          <a:p>
            <a:pPr lvl="1"/>
            <a:endParaRPr lang="en-US" dirty="0"/>
          </a:p>
          <a:p>
            <a:endParaRPr lang="en-US" dirty="0"/>
          </a:p>
        </p:txBody>
      </p:sp>
    </p:spTree>
    <p:extLst>
      <p:ext uri="{BB962C8B-B14F-4D97-AF65-F5344CB8AC3E}">
        <p14:creationId xmlns:p14="http://schemas.microsoft.com/office/powerpoint/2010/main" val="529046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DATA</a:t>
            </a:r>
          </a:p>
        </p:txBody>
      </p:sp>
      <p:sp>
        <p:nvSpPr>
          <p:cNvPr id="3" name="Content Placeholder 2"/>
          <p:cNvSpPr>
            <a:spLocks noGrp="1"/>
          </p:cNvSpPr>
          <p:nvPr>
            <p:ph idx="1"/>
          </p:nvPr>
        </p:nvSpPr>
        <p:spPr/>
        <p:txBody>
          <a:bodyPr>
            <a:normAutofit/>
          </a:bodyPr>
          <a:lstStyle/>
          <a:p>
            <a:r>
              <a:rPr lang="en-US" sz="3200" dirty="0"/>
              <a:t>Data Section</a:t>
            </a:r>
          </a:p>
          <a:p>
            <a:pPr lvl="1"/>
            <a:r>
              <a:rPr lang="en-US" sz="2800" dirty="0"/>
              <a:t>Data sources/names</a:t>
            </a:r>
          </a:p>
          <a:p>
            <a:pPr lvl="1"/>
            <a:r>
              <a:rPr lang="en-US" sz="2800" dirty="0"/>
              <a:t>Time period</a:t>
            </a:r>
          </a:p>
          <a:p>
            <a:pPr lvl="1"/>
            <a:r>
              <a:rPr lang="en-US" sz="2800" dirty="0"/>
              <a:t>Limitations (survey response rate, small # of </a:t>
            </a:r>
            <a:r>
              <a:rPr lang="en-US" sz="2800" dirty="0" err="1"/>
              <a:t>obs</a:t>
            </a:r>
            <a:r>
              <a:rPr lang="en-US" sz="2800" dirty="0"/>
              <a:t>, missing </a:t>
            </a:r>
            <a:r>
              <a:rPr lang="en-US" sz="2800" dirty="0" err="1"/>
              <a:t>obs</a:t>
            </a:r>
            <a:r>
              <a:rPr lang="en-US" sz="2800" dirty="0"/>
              <a:t>, survivorship bias etc.)</a:t>
            </a:r>
          </a:p>
          <a:p>
            <a:pPr lvl="1"/>
            <a:endParaRPr lang="en-US" dirty="0"/>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2020459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Writing: Results</a:t>
            </a:r>
          </a:p>
        </p:txBody>
      </p:sp>
      <p:sp>
        <p:nvSpPr>
          <p:cNvPr id="3" name="Content Placeholder 2"/>
          <p:cNvSpPr>
            <a:spLocks noGrp="1"/>
          </p:cNvSpPr>
          <p:nvPr>
            <p:ph idx="1"/>
          </p:nvPr>
        </p:nvSpPr>
        <p:spPr/>
        <p:txBody>
          <a:bodyPr>
            <a:normAutofit/>
          </a:bodyPr>
          <a:lstStyle/>
          <a:p>
            <a:pPr marL="274320" lvl="1" indent="0">
              <a:buNone/>
            </a:pPr>
            <a:endParaRPr lang="en-US" dirty="0"/>
          </a:p>
          <a:p>
            <a:r>
              <a:rPr lang="en-US" sz="3200" dirty="0"/>
              <a:t>Results</a:t>
            </a:r>
          </a:p>
          <a:p>
            <a:pPr lvl="1"/>
            <a:r>
              <a:rPr lang="en-US" sz="2800" dirty="0"/>
              <a:t>Only main results – not every result ever tried</a:t>
            </a:r>
          </a:p>
          <a:p>
            <a:pPr lvl="1"/>
            <a:r>
              <a:rPr lang="en-US" sz="2800" dirty="0"/>
              <a:t>No table that does not fit in with main research question</a:t>
            </a:r>
          </a:p>
          <a:p>
            <a:pPr lvl="1"/>
            <a:r>
              <a:rPr lang="en-US" sz="2800" dirty="0"/>
              <a:t>2 decimal places usually suffice: Don't report 1.23456789</a:t>
            </a:r>
          </a:p>
          <a:p>
            <a:pPr lvl="1"/>
            <a:r>
              <a:rPr lang="en-US" sz="2800" dirty="0"/>
              <a:t>Captions should be self-contained</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756449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vert="horz" lIns="91440" tIns="45720" rIns="91440" bIns="45720" rtlCol="0" anchor="ctr">
            <a:normAutofit/>
          </a:bodyPr>
          <a:lstStyle/>
          <a:p>
            <a:pPr algn="ctr"/>
            <a:r>
              <a:rPr lang="en-US" sz="4000" b="1" dirty="0">
                <a:latin typeface="+mn-lt"/>
              </a:rPr>
              <a:t>Doing research</a:t>
            </a:r>
          </a:p>
        </p:txBody>
      </p:sp>
      <p:sp>
        <p:nvSpPr>
          <p:cNvPr id="3" name="Content Placeholder 2"/>
          <p:cNvSpPr>
            <a:spLocks noGrp="1"/>
          </p:cNvSpPr>
          <p:nvPr>
            <p:ph idx="1"/>
          </p:nvPr>
        </p:nvSpPr>
        <p:spPr/>
        <p:txBody>
          <a:bodyPr>
            <a:normAutofit/>
          </a:bodyPr>
          <a:lstStyle/>
          <a:p>
            <a:r>
              <a:rPr lang="en-US" sz="2400" dirty="0"/>
              <a:t>Getting ideas: Read latest research</a:t>
            </a:r>
          </a:p>
          <a:p>
            <a:pPr lvl="1"/>
            <a:r>
              <a:rPr lang="en-US" sz="2000" dirty="0"/>
              <a:t>Important online outlets for research</a:t>
            </a:r>
          </a:p>
          <a:p>
            <a:pPr lvl="2"/>
            <a:r>
              <a:rPr lang="en-US" sz="1800" dirty="0">
                <a:hlinkClick r:id="rId2"/>
              </a:rPr>
              <a:t>ssrn.com</a:t>
            </a:r>
            <a:r>
              <a:rPr lang="en-US" sz="1800" dirty="0"/>
              <a:t>, </a:t>
            </a:r>
            <a:r>
              <a:rPr lang="en-US" sz="1800" dirty="0">
                <a:hlinkClick r:id="rId3"/>
              </a:rPr>
              <a:t>nber.org</a:t>
            </a:r>
            <a:r>
              <a:rPr lang="en-US" sz="1800" dirty="0"/>
              <a:t>, top journals in your field</a:t>
            </a:r>
          </a:p>
          <a:p>
            <a:pPr lvl="1"/>
            <a:r>
              <a:rPr lang="en-US" sz="2000" dirty="0"/>
              <a:t>Key academic conferences in your discipline</a:t>
            </a:r>
          </a:p>
          <a:p>
            <a:pPr lvl="2"/>
            <a:r>
              <a:rPr lang="en-US" sz="1800" dirty="0">
                <a:hlinkClick r:id="rId4"/>
              </a:rPr>
              <a:t>westernfinance.org</a:t>
            </a:r>
            <a:r>
              <a:rPr lang="en-US" sz="1800" dirty="0"/>
              <a:t>, </a:t>
            </a:r>
            <a:r>
              <a:rPr lang="en-US" sz="1800" dirty="0">
                <a:hlinkClick r:id="rId5"/>
              </a:rPr>
              <a:t>American Economic Association</a:t>
            </a:r>
            <a:r>
              <a:rPr lang="en-US" sz="1800" dirty="0"/>
              <a:t>, </a:t>
            </a:r>
            <a:r>
              <a:rPr lang="en-US" sz="1800" dirty="0">
                <a:hlinkClick r:id="rId6"/>
              </a:rPr>
              <a:t>SFS cavalcade</a:t>
            </a:r>
            <a:r>
              <a:rPr lang="en-US" sz="1800" dirty="0"/>
              <a:t>, etc.</a:t>
            </a:r>
          </a:p>
          <a:p>
            <a:pPr lvl="1"/>
            <a:r>
              <a:rPr lang="en-US" sz="2000" dirty="0"/>
              <a:t>Favorite researchers in your area</a:t>
            </a:r>
          </a:p>
          <a:p>
            <a:pPr lvl="2"/>
            <a:r>
              <a:rPr lang="en-US" sz="1800" dirty="0">
                <a:hlinkClick r:id="rId7"/>
              </a:rPr>
              <a:t>Alex Edmans</a:t>
            </a:r>
            <a:endParaRPr lang="en-US" sz="1800" dirty="0"/>
          </a:p>
          <a:p>
            <a:pPr lvl="2"/>
            <a:r>
              <a:rPr lang="en-US" sz="1800" dirty="0">
                <a:hlinkClick r:id="rId8"/>
              </a:rPr>
              <a:t>Kelly </a:t>
            </a:r>
            <a:r>
              <a:rPr lang="en-US" sz="1800" dirty="0" err="1">
                <a:hlinkClick r:id="rId8"/>
              </a:rPr>
              <a:t>Shue</a:t>
            </a:r>
            <a:endParaRPr lang="en-US" sz="1800" dirty="0"/>
          </a:p>
          <a:p>
            <a:pPr lvl="1"/>
            <a:r>
              <a:rPr lang="en-US" sz="2000" dirty="0"/>
              <a:t>Read business outlets</a:t>
            </a:r>
          </a:p>
          <a:p>
            <a:pPr lvl="2"/>
            <a:r>
              <a:rPr lang="en-US" sz="1800" dirty="0"/>
              <a:t>WSJ, </a:t>
            </a:r>
            <a:r>
              <a:rPr lang="en-US" sz="1800" dirty="0" err="1"/>
              <a:t>Bloomberg,CNBC</a:t>
            </a:r>
            <a:endParaRPr lang="en-US" sz="1800" dirty="0"/>
          </a:p>
        </p:txBody>
      </p:sp>
    </p:spTree>
    <p:extLst>
      <p:ext uri="{BB962C8B-B14F-4D97-AF65-F5344CB8AC3E}">
        <p14:creationId xmlns:p14="http://schemas.microsoft.com/office/powerpoint/2010/main" val="3594109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94"/>
            <a:ext cx="10515600" cy="1325563"/>
          </a:xfrm>
          <a:solidFill>
            <a:schemeClr val="bg2"/>
          </a:solidFill>
          <a:scene3d>
            <a:camera prst="orthographicFront"/>
            <a:lightRig rig="morning" dir="t"/>
          </a:scene3d>
          <a:sp3d>
            <a:bevelT w="152400" h="50800" prst="softRound"/>
            <a:bevelB prst="relaxedInset"/>
          </a:sp3d>
        </p:spPr>
        <p:txBody>
          <a:bodyPr>
            <a:normAutofit/>
          </a:bodyPr>
          <a:lstStyle/>
          <a:p>
            <a:pPr algn="ctr"/>
            <a:r>
              <a:rPr lang="en-US" sz="4000" b="1" dirty="0">
                <a:latin typeface="+mn-lt"/>
              </a:rPr>
              <a:t>Presenting your research</a:t>
            </a:r>
          </a:p>
        </p:txBody>
      </p:sp>
      <p:pic>
        <p:nvPicPr>
          <p:cNvPr id="7" name="Content Placeholder 6" descr="Screen Clipping"/>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53312" y="1599918"/>
            <a:ext cx="2486043" cy="1883091"/>
          </a:xfrm>
        </p:spPr>
      </p:pic>
      <p:sp>
        <p:nvSpPr>
          <p:cNvPr id="4" name="Content Placeholder 3"/>
          <p:cNvSpPr>
            <a:spLocks noGrp="1"/>
          </p:cNvSpPr>
          <p:nvPr>
            <p:ph sz="half" idx="2"/>
          </p:nvPr>
        </p:nvSpPr>
        <p:spPr>
          <a:xfrm>
            <a:off x="3695700" y="1825625"/>
            <a:ext cx="7719060" cy="4530725"/>
          </a:xfrm>
        </p:spPr>
        <p:txBody>
          <a:bodyPr>
            <a:normAutofit/>
          </a:bodyPr>
          <a:lstStyle/>
          <a:p>
            <a:r>
              <a:rPr lang="en-US" sz="4400" dirty="0"/>
              <a:t>Practice</a:t>
            </a:r>
            <a:r>
              <a:rPr lang="en-US" sz="4000" dirty="0"/>
              <a:t> </a:t>
            </a:r>
            <a:r>
              <a:rPr lang="en-US" sz="4400" dirty="0"/>
              <a:t>your presentation</a:t>
            </a:r>
          </a:p>
          <a:p>
            <a:pPr lvl="1"/>
            <a:r>
              <a:rPr lang="en-US" sz="3600" dirty="0"/>
              <a:t>Don’t read from the slide</a:t>
            </a:r>
          </a:p>
          <a:p>
            <a:r>
              <a:rPr lang="en-US" sz="4400" dirty="0"/>
              <a:t>Don’t put 10 lines into 1 slide</a:t>
            </a:r>
          </a:p>
          <a:p>
            <a:pPr lvl="1"/>
            <a:r>
              <a:rPr lang="en-US" sz="3600" dirty="0"/>
              <a:t>Don’t write down every word</a:t>
            </a:r>
          </a:p>
          <a:p>
            <a:pPr lvl="1"/>
            <a:r>
              <a:rPr lang="en-US" sz="4000" dirty="0"/>
              <a:t>Use extra slides</a:t>
            </a:r>
          </a:p>
          <a:p>
            <a:endParaRPr lang="en-US" dirty="0"/>
          </a:p>
        </p:txBody>
      </p:sp>
      <p:sp>
        <p:nvSpPr>
          <p:cNvPr id="6" name="Footer Placeholder 5"/>
          <p:cNvSpPr>
            <a:spLocks noGrp="1"/>
          </p:cNvSpPr>
          <p:nvPr>
            <p:ph type="ftr" sz="quarter" idx="11"/>
          </p:nvPr>
        </p:nvSpPr>
        <p:spPr/>
        <p:txBody>
          <a:bodyPr/>
          <a:lstStyle/>
          <a:p>
            <a:r>
              <a:rPr lang="en-US"/>
              <a:t>FOX Executive DBA </a:t>
            </a:r>
          </a:p>
        </p:txBody>
      </p:sp>
      <p:pic>
        <p:nvPicPr>
          <p:cNvPr id="8" name="Picture 7"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001" y="4987361"/>
            <a:ext cx="2521027" cy="1642039"/>
          </a:xfrm>
          <a:prstGeom prst="rect">
            <a:avLst/>
          </a:prstGeom>
        </p:spPr>
      </p:pic>
      <p:pic>
        <p:nvPicPr>
          <p:cNvPr id="9" name="Picture 8"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312" y="3483009"/>
            <a:ext cx="2446020" cy="1643399"/>
          </a:xfrm>
          <a:prstGeom prst="rect">
            <a:avLst/>
          </a:prstGeom>
        </p:spPr>
      </p:pic>
    </p:spTree>
    <p:extLst>
      <p:ext uri="{BB962C8B-B14F-4D97-AF65-F5344CB8AC3E}">
        <p14:creationId xmlns:p14="http://schemas.microsoft.com/office/powerpoint/2010/main" val="152827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94"/>
            <a:ext cx="10515600" cy="1325563"/>
          </a:xfrm>
          <a:solidFill>
            <a:schemeClr val="bg2"/>
          </a:solidFill>
          <a:scene3d>
            <a:camera prst="orthographicFront"/>
            <a:lightRig rig="morning" dir="t"/>
          </a:scene3d>
          <a:sp3d>
            <a:bevelT w="152400" h="50800" prst="softRound"/>
            <a:bevelB prst="relaxedInset"/>
          </a:sp3d>
        </p:spPr>
        <p:txBody>
          <a:bodyPr>
            <a:normAutofit/>
          </a:bodyPr>
          <a:lstStyle/>
          <a:p>
            <a:pPr algn="ctr"/>
            <a:r>
              <a:rPr lang="en-US" sz="4000" b="1" dirty="0">
                <a:latin typeface="+mn-lt"/>
              </a:rPr>
              <a:t>Presenting your research</a:t>
            </a:r>
          </a:p>
        </p:txBody>
      </p:sp>
      <p:pic>
        <p:nvPicPr>
          <p:cNvPr id="10" name="Content Placeholder 4"/>
          <p:cNvPicPr>
            <a:picLocks noGrp="1" noChangeAspect="1"/>
          </p:cNvPicPr>
          <p:nvPr>
            <p:ph sz="half" idx="1"/>
          </p:nvPr>
        </p:nvPicPr>
        <p:blipFill>
          <a:blip r:embed="rId2"/>
          <a:stretch>
            <a:fillRect/>
          </a:stretch>
        </p:blipFill>
        <p:spPr>
          <a:xfrm>
            <a:off x="958060" y="1578636"/>
            <a:ext cx="3845854" cy="3718882"/>
          </a:xfrm>
          <a:prstGeom prst="rect">
            <a:avLst/>
          </a:prstGeom>
        </p:spPr>
      </p:pic>
      <p:sp>
        <p:nvSpPr>
          <p:cNvPr id="4" name="Content Placeholder 3"/>
          <p:cNvSpPr>
            <a:spLocks noGrp="1"/>
          </p:cNvSpPr>
          <p:nvPr>
            <p:ph sz="half" idx="2"/>
          </p:nvPr>
        </p:nvSpPr>
        <p:spPr>
          <a:xfrm>
            <a:off x="5035825" y="1499956"/>
            <a:ext cx="6909021" cy="4530725"/>
          </a:xfrm>
        </p:spPr>
        <p:txBody>
          <a:bodyPr>
            <a:normAutofit/>
          </a:bodyPr>
          <a:lstStyle/>
          <a:p>
            <a:r>
              <a:rPr lang="en-US" sz="4000" dirty="0"/>
              <a:t>Don’t need every variable you used in every regression</a:t>
            </a:r>
            <a:endParaRPr lang="en-US" sz="3200" dirty="0"/>
          </a:p>
          <a:p>
            <a:r>
              <a:rPr lang="en-US" sz="4000" dirty="0"/>
              <a:t>Don’t use “preview of results”</a:t>
            </a:r>
          </a:p>
          <a:p>
            <a:r>
              <a:rPr lang="en-US" sz="4000" dirty="0"/>
              <a:t>Don’t get defensive</a:t>
            </a:r>
          </a:p>
          <a:p>
            <a:endParaRPr lang="en-US" sz="4000" dirty="0"/>
          </a:p>
          <a:p>
            <a:endParaRPr lang="en-US" dirty="0"/>
          </a:p>
        </p:txBody>
      </p:sp>
    </p:spTree>
    <p:extLst>
      <p:ext uri="{BB962C8B-B14F-4D97-AF65-F5344CB8AC3E}">
        <p14:creationId xmlns:p14="http://schemas.microsoft.com/office/powerpoint/2010/main" val="274917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w="152400" h="50800" prst="softRound"/>
          </a:sp3d>
        </p:spPr>
        <p:txBody>
          <a:bodyPr>
            <a:normAutofit/>
          </a:bodyPr>
          <a:lstStyle/>
          <a:p>
            <a:pPr algn="ctr"/>
            <a:r>
              <a:rPr lang="en-US" sz="4000" b="1" dirty="0">
                <a:latin typeface="+mn-lt"/>
              </a:rPr>
              <a:t>Presenting your Research</a:t>
            </a:r>
          </a:p>
        </p:txBody>
      </p:sp>
      <p:pic>
        <p:nvPicPr>
          <p:cNvPr id="9" name="Content Placeholder 8"/>
          <p:cNvPicPr>
            <a:picLocks noGrp="1" noChangeAspect="1"/>
          </p:cNvPicPr>
          <p:nvPr>
            <p:ph sz="half" idx="1"/>
          </p:nvPr>
        </p:nvPicPr>
        <p:blipFill>
          <a:blip r:embed="rId2"/>
          <a:stretch>
            <a:fillRect/>
          </a:stretch>
        </p:blipFill>
        <p:spPr>
          <a:xfrm>
            <a:off x="838199" y="2029953"/>
            <a:ext cx="2578833" cy="2107707"/>
          </a:xfrm>
          <a:prstGeom prst="rect">
            <a:avLst/>
          </a:prstGeom>
        </p:spPr>
      </p:pic>
      <p:sp>
        <p:nvSpPr>
          <p:cNvPr id="4" name="Content Placeholder 3"/>
          <p:cNvSpPr>
            <a:spLocks noGrp="1"/>
          </p:cNvSpPr>
          <p:nvPr>
            <p:ph sz="half" idx="2"/>
          </p:nvPr>
        </p:nvSpPr>
        <p:spPr>
          <a:xfrm>
            <a:off x="3870960" y="2133600"/>
            <a:ext cx="7923876" cy="4351338"/>
          </a:xfrm>
        </p:spPr>
        <p:txBody>
          <a:bodyPr>
            <a:normAutofit/>
          </a:bodyPr>
          <a:lstStyle/>
          <a:p>
            <a:r>
              <a:rPr lang="en-US" sz="4000" dirty="0"/>
              <a:t>Start with contribution</a:t>
            </a:r>
          </a:p>
          <a:p>
            <a:pPr lvl="1"/>
            <a:r>
              <a:rPr lang="en-US" sz="3600" dirty="0"/>
              <a:t>Here is what I do..</a:t>
            </a:r>
          </a:p>
          <a:p>
            <a:r>
              <a:rPr lang="en-US" sz="4000" dirty="0"/>
              <a:t>Say why this is different..</a:t>
            </a:r>
          </a:p>
          <a:p>
            <a:r>
              <a:rPr lang="en-US" sz="4000" dirty="0"/>
              <a:t>Say why (anyone) should care..</a:t>
            </a:r>
          </a:p>
          <a:p>
            <a:r>
              <a:rPr lang="en-US" sz="4000" dirty="0"/>
              <a:t>Be concise</a:t>
            </a:r>
          </a:p>
          <a:p>
            <a:endParaRPr lang="en-US" sz="3600" dirty="0"/>
          </a:p>
          <a:p>
            <a:pPr marL="457200" lvl="1" indent="0">
              <a:buNone/>
            </a:pPr>
            <a:endParaRPr lang="en-US" dirty="0"/>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4137660"/>
            <a:ext cx="2578833" cy="2095500"/>
          </a:xfrm>
          <a:prstGeom prst="rect">
            <a:avLst/>
          </a:prstGeom>
        </p:spPr>
      </p:pic>
    </p:spTree>
    <p:extLst>
      <p:ext uri="{BB962C8B-B14F-4D97-AF65-F5344CB8AC3E}">
        <p14:creationId xmlns:p14="http://schemas.microsoft.com/office/powerpoint/2010/main" val="2041009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a:scene3d>
            <a:camera prst="orthographicFront"/>
            <a:lightRig rig="morning" dir="t"/>
          </a:scene3d>
          <a:sp3d>
            <a:bevelT w="152400" h="50800" prst="softRound"/>
            <a:bevelB prst="relaxedInset"/>
          </a:sp3d>
        </p:spPr>
        <p:txBody>
          <a:bodyPr>
            <a:normAutofit/>
          </a:bodyPr>
          <a:lstStyle/>
          <a:p>
            <a:pPr algn="ctr"/>
            <a:r>
              <a:rPr lang="en-US" sz="4000" b="1" dirty="0">
                <a:latin typeface="+mn-lt"/>
              </a:rPr>
              <a:t>Presenting your research</a:t>
            </a:r>
          </a:p>
        </p:txBody>
      </p:sp>
      <p:pic>
        <p:nvPicPr>
          <p:cNvPr id="6" name="Content Placeholder 5"/>
          <p:cNvPicPr>
            <a:picLocks noGrp="1" noChangeAspect="1"/>
          </p:cNvPicPr>
          <p:nvPr>
            <p:ph sz="half" idx="1"/>
          </p:nvPr>
        </p:nvPicPr>
        <p:blipFill>
          <a:blip r:embed="rId2"/>
          <a:stretch>
            <a:fillRect/>
          </a:stretch>
        </p:blipFill>
        <p:spPr>
          <a:xfrm>
            <a:off x="838200" y="2129631"/>
            <a:ext cx="3568045" cy="3743325"/>
          </a:xfrm>
          <a:prstGeom prst="rect">
            <a:avLst/>
          </a:prstGeom>
        </p:spPr>
      </p:pic>
      <p:sp>
        <p:nvSpPr>
          <p:cNvPr id="4" name="Content Placeholder 3"/>
          <p:cNvSpPr>
            <a:spLocks noGrp="1"/>
          </p:cNvSpPr>
          <p:nvPr>
            <p:ph sz="half" idx="2"/>
          </p:nvPr>
        </p:nvSpPr>
        <p:spPr>
          <a:xfrm>
            <a:off x="4406245" y="2506662"/>
            <a:ext cx="6947555" cy="4351338"/>
          </a:xfrm>
        </p:spPr>
        <p:txBody>
          <a:bodyPr>
            <a:normAutofit/>
          </a:bodyPr>
          <a:lstStyle/>
          <a:p>
            <a:r>
              <a:rPr lang="en-US" sz="3600" dirty="0"/>
              <a:t>Things that annoy a reader</a:t>
            </a:r>
          </a:p>
          <a:p>
            <a:pPr lvl="1"/>
            <a:r>
              <a:rPr lang="en-US" sz="3200" strike="dblStrike" dirty="0"/>
              <a:t>Typos –  proof read</a:t>
            </a:r>
          </a:p>
          <a:p>
            <a:pPr lvl="1"/>
            <a:r>
              <a:rPr lang="en-US" sz="3200" strike="dblStrike" dirty="0"/>
              <a:t>Bad English – use copy editor if needed</a:t>
            </a:r>
          </a:p>
          <a:p>
            <a:pPr lvl="1"/>
            <a:r>
              <a:rPr lang="en-US" sz="3200" dirty="0"/>
              <a:t>Claiming more than you can</a:t>
            </a:r>
          </a:p>
          <a:p>
            <a:pPr lvl="1"/>
            <a:r>
              <a:rPr lang="en-US" sz="3200" dirty="0"/>
              <a:t>If you put so little effort into your writing, why should referee put effort into reading…?</a:t>
            </a:r>
          </a:p>
          <a:p>
            <a:pPr lvl="1"/>
            <a:endParaRPr lang="en-US" sz="3200" dirty="0"/>
          </a:p>
        </p:txBody>
      </p:sp>
    </p:spTree>
    <p:extLst>
      <p:ext uri="{BB962C8B-B14F-4D97-AF65-F5344CB8AC3E}">
        <p14:creationId xmlns:p14="http://schemas.microsoft.com/office/powerpoint/2010/main" val="12114582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757</TotalTime>
  <Words>1476</Words>
  <Application>Microsoft Office PowerPoint</Application>
  <PresentationFormat>Widescreen</PresentationFormat>
  <Paragraphs>172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Calibri</vt:lpstr>
      <vt:lpstr>Rockwell</vt:lpstr>
      <vt:lpstr>Rockwell Condensed</vt:lpstr>
      <vt:lpstr>Wingdings</vt:lpstr>
      <vt:lpstr>Wood Type</vt:lpstr>
      <vt:lpstr> FIN 9002: Empirical Methods in Corporate Finance</vt:lpstr>
      <vt:lpstr>Reading</vt:lpstr>
      <vt:lpstr>Reading</vt:lpstr>
      <vt:lpstr>Reading</vt:lpstr>
      <vt:lpstr>Lets try this out….</vt:lpstr>
      <vt:lpstr>Cochrane on writing well…</vt:lpstr>
      <vt:lpstr>Writing:  The research statement</vt:lpstr>
      <vt:lpstr>Writing: The research statement</vt:lpstr>
      <vt:lpstr>Writing: The research statement</vt:lpstr>
      <vt:lpstr>Writing: The research statement</vt:lpstr>
      <vt:lpstr>Writing:  The Contribution</vt:lpstr>
      <vt:lpstr>Writing: The Contribution</vt:lpstr>
      <vt:lpstr>Writing: The Contribution</vt:lpstr>
      <vt:lpstr>Writing: The Contribution</vt:lpstr>
      <vt:lpstr>Writing: the CONTRIBUTIOn</vt:lpstr>
      <vt:lpstr>Writing: the CONTRIBUTIOn</vt:lpstr>
      <vt:lpstr>Writing: the INNOVATIOn</vt:lpstr>
      <vt:lpstr>Writing: General</vt:lpstr>
      <vt:lpstr>Writing: INTRODUCTIOn</vt:lpstr>
      <vt:lpstr>Writing: Related literature</vt:lpstr>
      <vt:lpstr>Writing: DATA</vt:lpstr>
      <vt:lpstr>Writing: Results</vt:lpstr>
      <vt:lpstr>Doing research</vt:lpstr>
      <vt:lpstr>Presenting your research</vt:lpstr>
      <vt:lpstr>Presenting your research</vt:lpstr>
      <vt:lpstr>Presenting your Research</vt:lpstr>
      <vt:lpstr>Presenting your research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Research?</dc:title>
  <dc:creator>Lalitha Naveen</dc:creator>
  <cp:lastModifiedBy>Lalitha Naveen</cp:lastModifiedBy>
  <cp:revision>125</cp:revision>
  <dcterms:created xsi:type="dcterms:W3CDTF">2020-01-22T15:31:46Z</dcterms:created>
  <dcterms:modified xsi:type="dcterms:W3CDTF">2026-09-01T17:28:17Z</dcterms:modified>
</cp:coreProperties>
</file>