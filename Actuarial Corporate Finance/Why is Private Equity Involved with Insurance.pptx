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7" r:id="rId3"/>
    <p:sldId id="263" r:id="rId4"/>
    <p:sldId id="261" r:id="rId5"/>
    <p:sldId id="258" r:id="rId6"/>
    <p:sldId id="259" r:id="rId7"/>
    <p:sldId id="262" r:id="rId8"/>
    <p:sldId id="260" r:id="rId9"/>
    <p:sldId id="264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C5518A6-9163-4276-B002-0DEEB81E0179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BE256-4493-490F-A5DD-49D2828D83D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368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Mention regulatory requirements</a:t>
            </a:r>
            <a:br>
              <a:rPr lang="en-US" dirty="0"/>
            </a:br>
            <a:r>
              <a:rPr lang="en-US" dirty="0"/>
              <a:t>contrast mutual funds owned by their investors since that’s a same-day topic!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BE256-4493-490F-A5DD-49D2828D83D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1923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D72C50-7C10-DD61-791B-F9898280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3D4A185-E682-1A56-8896-DE6BE4B3D99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180209D-AD2B-F950-1687-F1293E4D1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Reserves: life insurance companies fund products with large, (theoretically) stable portfolios</a:t>
            </a:r>
            <a:br>
              <a:rPr lang="en-US" dirty="0"/>
            </a:br>
            <a:r>
              <a:rPr lang="en-US" dirty="0"/>
              <a:t>Regulation changes: investment grade of bonds -&gt; book value of bonds; allowed for holding riskier debt</a:t>
            </a:r>
          </a:p>
          <a:p>
            <a:r>
              <a:rPr lang="en-US" dirty="0"/>
              <a:t>NAIC: national association of insurance commissioners – independent body advising regulators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F0ED63-B222-AE91-5BAD-31D290796DB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BE256-4493-490F-A5DD-49D2828D83D8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92466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BE256-4493-490F-A5DD-49D2828D83D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917618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Reserves: life insurance companies fund products with large, (theoretically) stable portfolios</a:t>
            </a:r>
            <a:br>
              <a:rPr lang="en-US" dirty="0"/>
            </a:br>
            <a:r>
              <a:rPr lang="en-US" dirty="0"/>
              <a:t>Regulation changes: investment grade of bonds -&gt; book value of bonds; allowed for holding riskier debt (because books were bad after financial crisis)</a:t>
            </a:r>
          </a:p>
          <a:p>
            <a:r>
              <a:rPr lang="en-US" dirty="0"/>
              <a:t>NAIC: national association of insurance commissioners – independent body advising regulators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BE256-4493-490F-A5DD-49D2828D83D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60487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Companies think this is worth it; regulators aren’t sure</a:t>
            </a:r>
          </a:p>
          <a:p>
            <a:r>
              <a:rPr lang="en-US" dirty="0"/>
              <a:t>Bankruptcy issue: we don’t want people to pay for an annuity for twenty years and lose it, so the government (+ insurance companies through tax credits) absorb bill. With equity: people can just lose their stock</a:t>
            </a:r>
          </a:p>
          <a:p>
            <a:r>
              <a:rPr lang="en-US" dirty="0"/>
              <a:t>Systemic risk: all these companies + books interconnected; what happens if there is a large shock?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BE256-4493-490F-A5DD-49D2828D83D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23407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Original motive for Bermuda was refinancing excess capital, but this loophole was closed in 2015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BE256-4493-490F-A5DD-49D2828D83D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77376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77005" y="1016955"/>
            <a:ext cx="9140954" cy="33465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7200" cap="all" baseline="0" dirty="0">
                <a:solidFill>
                  <a:schemeClr val="bg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462963" y="4869030"/>
            <a:ext cx="7152030" cy="9872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82023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77000"/>
            <a:ext cx="188595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1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631FF2A-9DA0-DC5C-0C53-91FDE15093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CA4208E-B529-0934-86E0-24278D43C68A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9304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5526932-58BC-3B05-A619-8FE2BA7973DD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E4751EC6-9764-CDDF-E8BC-793AD483E0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Date Placeholder 7">
            <a:extLst>
              <a:ext uri="{FF2B5EF4-FFF2-40B4-BE49-F238E27FC236}">
                <a16:creationId xmlns:a16="http://schemas.microsoft.com/office/drawing/2014/main" id="{DA395EC9-5212-9F09-E9FA-0AB62AFB6D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286E48EB-E81D-8C6A-DBE6-738017E5A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0949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33400" y="4572000"/>
            <a:ext cx="11125201" cy="1112520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>
              <a:defRPr lang="en-US" sz="7200" cap="all" baseline="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33400" y="5715000"/>
            <a:ext cx="11125201" cy="5334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2000" b="1" i="0" dirty="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B24A208E-BD69-BB12-21B8-DA405B501FA8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1999" cy="3981764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 t="-419" b="-419"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5B8C48-05E9-5280-3F6A-22F8BCBB477E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AA6C9C7-A264-237A-7F3C-46E6A7A9646D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9110036" y="6476999"/>
            <a:ext cx="188054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7BC820F-C031-6832-5CA0-B972903E0D5F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0995976" y="6477000"/>
            <a:ext cx="66262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15659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786071" y="1016955"/>
            <a:ext cx="3872530" cy="3726811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>
              <a:defRPr lang="en-US" sz="5000" cap="all" baseline="0" dirty="0">
                <a:solidFill>
                  <a:schemeClr val="tx2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786071" y="5134926"/>
            <a:ext cx="3868420" cy="111347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marL="0" indent="0">
              <a:buNone/>
              <a:defRPr lang="en-US" sz="2000" b="1" i="0" dirty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77BE7EAD-CCCA-EA7C-0263-265AA3E43C5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7224095" cy="6858000"/>
          </a:xfrm>
          <a:custGeom>
            <a:avLst/>
            <a:gdLst>
              <a:gd name="connsiteX0" fmla="*/ 0 w 7224095"/>
              <a:gd name="connsiteY0" fmla="*/ 629614 h 6858000"/>
              <a:gd name="connsiteX1" fmla="*/ 7224095 w 7224095"/>
              <a:gd name="connsiteY1" fmla="*/ 629614 h 6858000"/>
              <a:gd name="connsiteX2" fmla="*/ 7224095 w 7224095"/>
              <a:gd name="connsiteY2" fmla="*/ 6858000 h 6858000"/>
              <a:gd name="connsiteX3" fmla="*/ 0 w 7224095"/>
              <a:gd name="connsiteY3" fmla="*/ 6858000 h 6858000"/>
              <a:gd name="connsiteX4" fmla="*/ 0 w 7224095"/>
              <a:gd name="connsiteY4" fmla="*/ 0 h 6858000"/>
              <a:gd name="connsiteX5" fmla="*/ 7224095 w 7224095"/>
              <a:gd name="connsiteY5" fmla="*/ 0 h 6858000"/>
              <a:gd name="connsiteX6" fmla="*/ 7224095 w 7224095"/>
              <a:gd name="connsiteY6" fmla="*/ 565606 h 6858000"/>
              <a:gd name="connsiteX7" fmla="*/ 0 w 7224095"/>
              <a:gd name="connsiteY7" fmla="*/ 56560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7224095" h="6858000">
                <a:moveTo>
                  <a:pt x="0" y="629614"/>
                </a:moveTo>
                <a:lnTo>
                  <a:pt x="7224095" y="629614"/>
                </a:lnTo>
                <a:lnTo>
                  <a:pt x="7224095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7224095" y="0"/>
                </a:lnTo>
                <a:lnTo>
                  <a:pt x="7224095" y="565606"/>
                </a:lnTo>
                <a:lnTo>
                  <a:pt x="0" y="565606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167937" y="6476999"/>
            <a:ext cx="189584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058402" y="6476999"/>
            <a:ext cx="937594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77000"/>
            <a:ext cx="657221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879DE85-4541-95AA-B871-7CBAD2BA1550}"/>
              </a:ext>
            </a:extLst>
          </p:cNvPr>
          <p:cNvSpPr/>
          <p:nvPr/>
        </p:nvSpPr>
        <p:spPr>
          <a:xfrm>
            <a:off x="0" y="565606"/>
            <a:ext cx="11557970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088153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33400" y="1143000"/>
            <a:ext cx="8576636" cy="527100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7200" cap="all" baseline="0" dirty="0">
                <a:solidFill>
                  <a:schemeClr val="bg2"/>
                </a:solidFill>
              </a:defRPr>
            </a:lvl1pPr>
          </a:lstStyle>
          <a:p>
            <a:pPr lvl="0"/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0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41" y="6492240"/>
            <a:ext cx="18913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8" y="6492240"/>
            <a:ext cx="65722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15F1B314-6B95-45EC-8168-CEA297F1BD40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4E8A7FA-CBEB-E74B-AC79-5D830DAFC993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756586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5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Rectangle 32">
            <a:extLst>
              <a:ext uri="{FF2B5EF4-FFF2-40B4-BE49-F238E27FC236}">
                <a16:creationId xmlns:a16="http://schemas.microsoft.com/office/drawing/2014/main" id="{BAE97C67-C2EB-5515-0FDC-A535220C9DF0}"/>
              </a:ext>
            </a:extLst>
          </p:cNvPr>
          <p:cNvSpPr/>
          <p:nvPr/>
        </p:nvSpPr>
        <p:spPr>
          <a:xfrm>
            <a:off x="9110035" y="0"/>
            <a:ext cx="3081964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3399" y="1016955"/>
            <a:ext cx="8195646" cy="1127758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9" y="2510472"/>
            <a:ext cx="8190496" cy="3966527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6858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 marL="12573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575848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1885" y="6492240"/>
            <a:ext cx="176399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061271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58CA726-6257-4F3F-9296-A3CF5DCA19DB}"/>
              </a:ext>
            </a:extLst>
          </p:cNvPr>
          <p:cNvSpPr/>
          <p:nvPr/>
        </p:nvSpPr>
        <p:spPr>
          <a:xfrm>
            <a:off x="634029" y="2144714"/>
            <a:ext cx="8476007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44468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9C713386-53DE-AEBA-6318-6C7146DE227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343517" y="1386842"/>
            <a:ext cx="6315083" cy="1127758"/>
          </a:xfrm>
        </p:spPr>
        <p:txBody>
          <a:bodyPr>
            <a:normAutofit/>
          </a:bodyPr>
          <a:lstStyle>
            <a:lvl1pPr>
              <a:defRPr sz="7200" cap="all" baseline="0"/>
            </a:lvl1pPr>
          </a:lstStyle>
          <a:p>
            <a:r>
              <a:rPr lang="en-US" dirty="0"/>
              <a:t>AGENDA</a:t>
            </a:r>
          </a:p>
        </p:txBody>
      </p:sp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0440984A-B82C-18F1-2933-6DF295884CE0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4400554" cy="6858000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43518" y="2886089"/>
            <a:ext cx="6315082" cy="3336911"/>
          </a:xfrm>
          <a:prstGeom prst="rect">
            <a:avLst/>
          </a:prstGeom>
        </p:spPr>
        <p:txBody>
          <a:bodyPr>
            <a:normAutofit/>
          </a:bodyPr>
          <a:lstStyle>
            <a:lvl1pPr marL="457200" indent="-4572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1pPr>
            <a:lvl2pPr marL="5715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2pPr>
            <a:lvl3pPr marL="8001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3pPr>
            <a:lvl4pPr marL="1028700" indent="-342900"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4pPr>
            <a:lvl5pPr>
              <a:lnSpc>
                <a:spcPct val="150000"/>
              </a:lnSpc>
              <a:spcBef>
                <a:spcPts val="0"/>
              </a:spcBef>
              <a:buFont typeface="+mj-lt"/>
              <a:buAutoNum type="arabicPeriod"/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43518" y="6477000"/>
            <a:ext cx="3771905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0821" y="6477000"/>
            <a:ext cx="1875160" cy="381001"/>
          </a:xfrm>
          <a:prstGeom prst="rect">
            <a:avLst/>
          </a:prstGeom>
        </p:spPr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86" y="6477000"/>
            <a:ext cx="662614" cy="381001"/>
          </a:xfrm>
          <a:prstGeom prst="rect">
            <a:avLst/>
          </a:prstGeom>
        </p:spPr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8E5CA23-2176-4B29-AB27-EDD9AC417271}"/>
              </a:ext>
            </a:extLst>
          </p:cNvPr>
          <p:cNvSpPr/>
          <p:nvPr/>
        </p:nvSpPr>
        <p:spPr>
          <a:xfrm>
            <a:off x="4400554" y="2496190"/>
            <a:ext cx="7791446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53357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91539" cy="4083580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FB4667A-FE47-8556-FD3A-55FDBA801D76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3" cy="408357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9AE531BB-71E1-57EF-0879-5979B0C95458}"/>
              </a:ext>
            </a:extLst>
          </p:cNvPr>
          <p:cNvSpPr/>
          <p:nvPr/>
        </p:nvSpPr>
        <p:spPr>
          <a:xfrm>
            <a:off x="4024938" y="570037"/>
            <a:ext cx="8167062" cy="595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31FD272-0797-A5C1-BAB9-E68F518B8158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34171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3486153" cy="27214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latin typeface="+mj-lt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C71126E-AEFA-B45A-CD39-AC1315E0333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962526" y="1016955"/>
            <a:ext cx="6696074" cy="5490524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91338" cy="381001"/>
          </a:xfrm>
          <a:prstGeom prst="rect">
            <a:avLst/>
          </a:prstGeom>
        </p:spPr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922775-D819-CE59-81DF-9A22F9309472}"/>
              </a:ext>
            </a:extLst>
          </p:cNvPr>
          <p:cNvSpPr/>
          <p:nvPr/>
        </p:nvSpPr>
        <p:spPr>
          <a:xfrm>
            <a:off x="4017310" y="565607"/>
            <a:ext cx="817469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E1D59CA-78A2-7B8F-A9C7-E86B47BEAE5E}"/>
              </a:ext>
            </a:extLst>
          </p:cNvPr>
          <p:cNvSpPr/>
          <p:nvPr/>
        </p:nvSpPr>
        <p:spPr>
          <a:xfrm>
            <a:off x="634030" y="570037"/>
            <a:ext cx="3390908" cy="5957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5239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62523" y="1016956"/>
            <a:ext cx="6696076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99EF452C-FB1E-E93B-DCC5-1D98DE01795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4400554" cy="6858000"/>
          </a:xfrm>
          <a:custGeom>
            <a:avLst/>
            <a:gdLst>
              <a:gd name="connsiteX0" fmla="*/ 0 w 4400554"/>
              <a:gd name="connsiteY0" fmla="*/ 634999 h 6858000"/>
              <a:gd name="connsiteX1" fmla="*/ 4400554 w 4400554"/>
              <a:gd name="connsiteY1" fmla="*/ 634999 h 6858000"/>
              <a:gd name="connsiteX2" fmla="*/ 4400554 w 4400554"/>
              <a:gd name="connsiteY2" fmla="*/ 6858000 h 6858000"/>
              <a:gd name="connsiteX3" fmla="*/ 0 w 4400554"/>
              <a:gd name="connsiteY3" fmla="*/ 6858000 h 6858000"/>
              <a:gd name="connsiteX4" fmla="*/ 0 w 4400554"/>
              <a:gd name="connsiteY4" fmla="*/ 0 h 6858000"/>
              <a:gd name="connsiteX5" fmla="*/ 4400554 w 4400554"/>
              <a:gd name="connsiteY5" fmla="*/ 0 h 6858000"/>
              <a:gd name="connsiteX6" fmla="*/ 4400554 w 4400554"/>
              <a:gd name="connsiteY6" fmla="*/ 570991 h 6858000"/>
              <a:gd name="connsiteX7" fmla="*/ 0 w 4400554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400554" h="6858000">
                <a:moveTo>
                  <a:pt x="0" y="634999"/>
                </a:moveTo>
                <a:lnTo>
                  <a:pt x="4400554" y="634999"/>
                </a:lnTo>
                <a:lnTo>
                  <a:pt x="4400554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4400554" y="0"/>
                </a:lnTo>
                <a:lnTo>
                  <a:pt x="4400554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962523" y="2145668"/>
            <a:ext cx="6689892" cy="4118399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C65BFCB1-FAA8-D03A-3B62-DCB2CF1CA11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964103" y="6477000"/>
            <a:ext cx="470790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742B5C-5438-96A4-4A2A-AE939906F8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9672013" y="6477000"/>
            <a:ext cx="132936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0A608994-46CD-AAE0-DCC4-A59D26254D84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77000"/>
            <a:ext cx="65722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C16BEA9-7D3A-E34B-4442-F0BFB853F3F8}"/>
              </a:ext>
            </a:extLst>
          </p:cNvPr>
          <p:cNvSpPr/>
          <p:nvPr/>
        </p:nvSpPr>
        <p:spPr>
          <a:xfrm>
            <a:off x="4408228" y="570993"/>
            <a:ext cx="7142064" cy="64006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A3462211-E1BA-E90A-00F8-E717C7293E42}"/>
              </a:ext>
            </a:extLst>
          </p:cNvPr>
          <p:cNvSpPr/>
          <p:nvPr/>
        </p:nvSpPr>
        <p:spPr>
          <a:xfrm>
            <a:off x="-2282" y="570991"/>
            <a:ext cx="4410510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48322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32163" y="1016955"/>
            <a:ext cx="7026437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87476243-EB8F-9EFF-F789-0088ABBB0FBF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32168" y="2145668"/>
            <a:ext cx="7026432" cy="4077331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446E4B5-B423-4137-0255-D68BAC85BE95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4632167" y="6477000"/>
            <a:ext cx="5426231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BFB53A-8FDF-F131-DCF2-D7BECE95381F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404" y="6477000"/>
            <a:ext cx="94297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FEC5A8-0DCB-9EEB-83E2-0411804C543D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4" y="6477000"/>
            <a:ext cx="65722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ECF4FA5C-D406-8202-9143-DAEA62C5C872}"/>
              </a:ext>
            </a:extLst>
          </p:cNvPr>
          <p:cNvSpPr/>
          <p:nvPr/>
        </p:nvSpPr>
        <p:spPr>
          <a:xfrm>
            <a:off x="0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" name="Freeform 5">
            <a:extLst>
              <a:ext uri="{FF2B5EF4-FFF2-40B4-BE49-F238E27FC236}">
                <a16:creationId xmlns:a16="http://schemas.microsoft.com/office/drawing/2014/main" id="{082645EB-0315-BBF0-B28C-6A31158DE8D1}"/>
              </a:ext>
            </a:extLst>
          </p:cNvPr>
          <p:cNvSpPr/>
          <p:nvPr/>
        </p:nvSpPr>
        <p:spPr>
          <a:xfrm>
            <a:off x="3997235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91239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6858000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145668"/>
            <a:ext cx="6858000" cy="409352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1" y="6464300"/>
            <a:ext cx="5366715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5900115" y="6464300"/>
            <a:ext cx="929303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6829424" y="6464300"/>
            <a:ext cx="561977" cy="399514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070CE66A-15FE-D8FB-D711-D3BB0755F0D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8193866" y="1"/>
            <a:ext cx="3998133" cy="6858000"/>
          </a:xfrm>
          <a:custGeom>
            <a:avLst/>
            <a:gdLst>
              <a:gd name="connsiteX0" fmla="*/ 0 w 3998133"/>
              <a:gd name="connsiteY0" fmla="*/ 634999 h 6858000"/>
              <a:gd name="connsiteX1" fmla="*/ 3998133 w 3998133"/>
              <a:gd name="connsiteY1" fmla="*/ 634999 h 6858000"/>
              <a:gd name="connsiteX2" fmla="*/ 3998133 w 3998133"/>
              <a:gd name="connsiteY2" fmla="*/ 6858000 h 6858000"/>
              <a:gd name="connsiteX3" fmla="*/ 0 w 3998133"/>
              <a:gd name="connsiteY3" fmla="*/ 6858000 h 6858000"/>
              <a:gd name="connsiteX4" fmla="*/ 0 w 3998133"/>
              <a:gd name="connsiteY4" fmla="*/ 0 h 6858000"/>
              <a:gd name="connsiteX5" fmla="*/ 3998133 w 3998133"/>
              <a:gd name="connsiteY5" fmla="*/ 0 h 6858000"/>
              <a:gd name="connsiteX6" fmla="*/ 3998133 w 3998133"/>
              <a:gd name="connsiteY6" fmla="*/ 570991 h 6858000"/>
              <a:gd name="connsiteX7" fmla="*/ 0 w 3998133"/>
              <a:gd name="connsiteY7" fmla="*/ 570991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998133" h="6858000">
                <a:moveTo>
                  <a:pt x="0" y="634999"/>
                </a:moveTo>
                <a:lnTo>
                  <a:pt x="3998133" y="634999"/>
                </a:lnTo>
                <a:lnTo>
                  <a:pt x="3998133" y="6858000"/>
                </a:lnTo>
                <a:lnTo>
                  <a:pt x="0" y="6858000"/>
                </a:lnTo>
                <a:close/>
                <a:moveTo>
                  <a:pt x="0" y="0"/>
                </a:moveTo>
                <a:lnTo>
                  <a:pt x="3998133" y="0"/>
                </a:lnTo>
                <a:lnTo>
                  <a:pt x="3998133" y="570991"/>
                </a:lnTo>
                <a:lnTo>
                  <a:pt x="0" y="570991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E19B021D-A5A3-D515-C491-988160E0708C}"/>
              </a:ext>
            </a:extLst>
          </p:cNvPr>
          <p:cNvSpPr/>
          <p:nvPr/>
        </p:nvSpPr>
        <p:spPr>
          <a:xfrm>
            <a:off x="8172447" y="570992"/>
            <a:ext cx="4019552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Freeform 4">
            <a:extLst>
              <a:ext uri="{FF2B5EF4-FFF2-40B4-BE49-F238E27FC236}">
                <a16:creationId xmlns:a16="http://schemas.microsoft.com/office/drawing/2014/main" id="{F6879252-7B61-583A-CF4D-92BF27416ADC}"/>
              </a:ext>
            </a:extLst>
          </p:cNvPr>
          <p:cNvSpPr/>
          <p:nvPr/>
        </p:nvSpPr>
        <p:spPr>
          <a:xfrm>
            <a:off x="633137" y="570992"/>
            <a:ext cx="7560729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72508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1" y="1016955"/>
            <a:ext cx="4573438" cy="1328932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1" y="2495232"/>
            <a:ext cx="4573438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77000"/>
            <a:ext cx="292155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454946" y="6477000"/>
            <a:ext cx="1100995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4553312" y="6477000"/>
            <a:ext cx="552253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5658928" y="0"/>
            <a:ext cx="6533072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103B3571-8BEB-7B5F-5141-60BE7E4F2B98}"/>
              </a:ext>
            </a:extLst>
          </p:cNvPr>
          <p:cNvSpPr/>
          <p:nvPr/>
        </p:nvSpPr>
        <p:spPr>
          <a:xfrm>
            <a:off x="631405" y="570990"/>
            <a:ext cx="5024894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50409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275" y="1016955"/>
            <a:ext cx="3445936" cy="1328932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7056A831-274A-4E01-51DC-29FC50834A4F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533400" y="2495232"/>
            <a:ext cx="3445936" cy="372776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B09198F5-FF38-389C-E060-120AC6301809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533400" y="6477000"/>
            <a:ext cx="207677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305F20-8340-4F06-2EA5-4D05FFED4587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2610177" y="6477000"/>
            <a:ext cx="94976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4963CA08-6B63-DC1E-8CB3-C323C9040122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3559943" y="6477000"/>
            <a:ext cx="42920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7" name="Picture Placeholder 10">
            <a:extLst>
              <a:ext uri="{FF2B5EF4-FFF2-40B4-BE49-F238E27FC236}">
                <a16:creationId xmlns:a16="http://schemas.microsoft.com/office/drawing/2014/main" id="{0BBEF0D8-DF37-CB82-D6FC-4B18E864B26C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4602979" y="0"/>
            <a:ext cx="7584144" cy="6858000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8DC2254B-5D42-9D5B-16C8-9FAF562F458A}"/>
              </a:ext>
            </a:extLst>
          </p:cNvPr>
          <p:cNvSpPr/>
          <p:nvPr/>
        </p:nvSpPr>
        <p:spPr>
          <a:xfrm>
            <a:off x="615697" y="570989"/>
            <a:ext cx="3987282" cy="64012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42724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88060" y="1016955"/>
            <a:ext cx="2770539" cy="1875475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3CA946DA-5AE8-39E2-3ADD-B8F06308C1C6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8326323" cy="6858000"/>
          </a:xfrm>
          <a:custGeom>
            <a:avLst/>
            <a:gdLst>
              <a:gd name="connsiteX0" fmla="*/ 0 w 8326323"/>
              <a:gd name="connsiteY0" fmla="*/ 0 h 6858000"/>
              <a:gd name="connsiteX1" fmla="*/ 8326323 w 8326323"/>
              <a:gd name="connsiteY1" fmla="*/ 0 h 6858000"/>
              <a:gd name="connsiteX2" fmla="*/ 8326323 w 8326323"/>
              <a:gd name="connsiteY2" fmla="*/ 6858000 h 6858000"/>
              <a:gd name="connsiteX3" fmla="*/ 0 w 8326323"/>
              <a:gd name="connsiteY3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8326323" h="6858000">
                <a:moveTo>
                  <a:pt x="0" y="0"/>
                </a:moveTo>
                <a:lnTo>
                  <a:pt x="8326323" y="0"/>
                </a:lnTo>
                <a:lnTo>
                  <a:pt x="8326323" y="6858000"/>
                </a:lnTo>
                <a:lnTo>
                  <a:pt x="0" y="68580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8889055" y="3011335"/>
            <a:ext cx="2769544" cy="28449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8888061" y="6477000"/>
            <a:ext cx="140446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292522" y="6477000"/>
            <a:ext cx="708857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  <a:effectLst/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80" y="6477000"/>
            <a:ext cx="657220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Freeform 2">
            <a:extLst>
              <a:ext uri="{FF2B5EF4-FFF2-40B4-BE49-F238E27FC236}">
                <a16:creationId xmlns:a16="http://schemas.microsoft.com/office/drawing/2014/main" id="{3AEE3D4D-61F7-E7A0-0EB4-DE705A2CAF60}"/>
              </a:ext>
            </a:extLst>
          </p:cNvPr>
          <p:cNvSpPr/>
          <p:nvPr/>
        </p:nvSpPr>
        <p:spPr>
          <a:xfrm>
            <a:off x="8326322" y="570989"/>
            <a:ext cx="3332277" cy="64008"/>
          </a:xfrm>
          <a:custGeom>
            <a:avLst/>
            <a:gdLst>
              <a:gd name="connsiteX0" fmla="*/ 0 w 7152036"/>
              <a:gd name="connsiteY0" fmla="*/ 0 h 64008"/>
              <a:gd name="connsiteX1" fmla="*/ 7152036 w 7152036"/>
              <a:gd name="connsiteY1" fmla="*/ 0 h 64008"/>
              <a:gd name="connsiteX2" fmla="*/ 7152036 w 7152036"/>
              <a:gd name="connsiteY2" fmla="*/ 64008 h 64008"/>
              <a:gd name="connsiteX3" fmla="*/ 0 w 7152036"/>
              <a:gd name="connsiteY3" fmla="*/ 64008 h 640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152036" h="64008">
                <a:moveTo>
                  <a:pt x="0" y="0"/>
                </a:moveTo>
                <a:lnTo>
                  <a:pt x="7152036" y="0"/>
                </a:lnTo>
                <a:lnTo>
                  <a:pt x="7152036" y="64008"/>
                </a:lnTo>
                <a:lnTo>
                  <a:pt x="0" y="64008"/>
                </a:lnTo>
                <a:close/>
              </a:path>
            </a:pathLst>
          </a:cu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0522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3623948"/>
            <a:ext cx="3486152" cy="2599051"/>
          </a:xfrm>
          <a:prstGeom prst="rect">
            <a:avLst/>
          </a:prstGeom>
        </p:spPr>
        <p:txBody>
          <a:bodyPr anchor="t">
            <a:norm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0"/>
            <a:ext cx="12192000" cy="3242949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05936" y="3623949"/>
            <a:ext cx="7252664" cy="25990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>
              <a:buNone/>
              <a:defRPr lang="en-US" dirty="0">
                <a:solidFill>
                  <a:schemeClr val="tx2"/>
                </a:solidFill>
              </a:defRPr>
            </a:lvl1pPr>
            <a:lvl2pPr marL="228600" indent="0">
              <a:buNone/>
              <a:defRPr lang="en-US" dirty="0">
                <a:solidFill>
                  <a:schemeClr val="tx2"/>
                </a:solidFill>
              </a:defRPr>
            </a:lvl2pPr>
            <a:lvl3pPr marL="457200" indent="0">
              <a:buNone/>
              <a:defRPr lang="en-US" dirty="0">
                <a:solidFill>
                  <a:schemeClr val="tx2"/>
                </a:solidFill>
              </a:defRPr>
            </a:lvl3pPr>
            <a:lvl4pPr marL="685800" indent="0">
              <a:buNone/>
              <a:defRPr lang="en-US" dirty="0">
                <a:solidFill>
                  <a:schemeClr val="tx2"/>
                </a:solidFill>
              </a:defRPr>
            </a:lvl4pPr>
            <a:lvl5pPr marL="914400" indent="0">
              <a:buNone/>
              <a:defRPr lang="en-US" dirty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54057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11125199" cy="731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6" name="Picture Placeholder 11">
            <a:extLst>
              <a:ext uri="{FF2B5EF4-FFF2-40B4-BE49-F238E27FC236}">
                <a16:creationId xmlns:a16="http://schemas.microsoft.com/office/drawing/2014/main" id="{61ACD7CC-7A35-CC8D-F7DA-128B795065B1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>
          <a:xfrm>
            <a:off x="0" y="2145668"/>
            <a:ext cx="6291878" cy="4728525"/>
          </a:xfrm>
          <a:custGeom>
            <a:avLst/>
            <a:gdLst>
              <a:gd name="connsiteX0" fmla="*/ 0 w 6460672"/>
              <a:gd name="connsiteY0" fmla="*/ 0 h 5029200"/>
              <a:gd name="connsiteX1" fmla="*/ 6460672 w 6460672"/>
              <a:gd name="connsiteY1" fmla="*/ 0 h 5029200"/>
              <a:gd name="connsiteX2" fmla="*/ 6460672 w 6460672"/>
              <a:gd name="connsiteY2" fmla="*/ 5029200 h 5029200"/>
              <a:gd name="connsiteX3" fmla="*/ 0 w 6460672"/>
              <a:gd name="connsiteY3" fmla="*/ 5029200 h 5029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6460672" h="5029200">
                <a:moveTo>
                  <a:pt x="0" y="0"/>
                </a:moveTo>
                <a:lnTo>
                  <a:pt x="6460672" y="0"/>
                </a:lnTo>
                <a:lnTo>
                  <a:pt x="6460672" y="5029200"/>
                </a:lnTo>
                <a:lnTo>
                  <a:pt x="0" y="5029200"/>
                </a:lnTo>
                <a:close/>
              </a:path>
            </a:pathLst>
          </a:cu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 vert="horz" wrap="square" lIns="91440" tIns="45720" rIns="91440" bIns="45720" rtlCol="0">
            <a:noAutofit/>
          </a:bodyPr>
          <a:lstStyle>
            <a:lvl1pPr marL="0" indent="0">
              <a:buNone/>
              <a:defRPr lang="en-US" dirty="0"/>
            </a:lvl1pPr>
          </a:lstStyle>
          <a:p>
            <a:pPr marL="228600" lvl="0" indent="-228600"/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43095" y="2145668"/>
            <a:ext cx="4815505" cy="4190497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9" name="Footer Placeholder 8">
            <a:extLst>
              <a:ext uri="{FF2B5EF4-FFF2-40B4-BE49-F238E27FC236}">
                <a16:creationId xmlns:a16="http://schemas.microsoft.com/office/drawing/2014/main" id="{820916D3-99FA-E971-607F-14E290E58854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>
            <a:off x="6843095" y="6492240"/>
            <a:ext cx="321529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3CAD5B-18BB-E21E-3A4C-7BAACB8519A4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>
            <a:off x="10058398" y="6492240"/>
            <a:ext cx="942982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10" name="Slide Number Placeholder 9">
            <a:extLst>
              <a:ext uri="{FF2B5EF4-FFF2-40B4-BE49-F238E27FC236}">
                <a16:creationId xmlns:a16="http://schemas.microsoft.com/office/drawing/2014/main" id="{BBDEAB8E-8806-A459-E320-4CA2B455BFD7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11001379" y="6492240"/>
            <a:ext cx="657221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335081-FA52-F16F-A616-E20DA766DB57}"/>
              </a:ext>
            </a:extLst>
          </p:cNvPr>
          <p:cNvSpPr/>
          <p:nvPr/>
        </p:nvSpPr>
        <p:spPr>
          <a:xfrm>
            <a:off x="634030" y="565606"/>
            <a:ext cx="11557968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8888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9" y="1016955"/>
            <a:ext cx="3486153" cy="1316347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36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7F8EA658-2652-6F81-1B04-D50C60A3F171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634030" y="2495233"/>
            <a:ext cx="3385517" cy="3727765"/>
          </a:xfrm>
          <a:prstGeom prst="rect">
            <a:avLst/>
          </a:prstGeom>
          <a:blipFill dpi="0" rotWithShape="1">
            <a:blip r:embed="rId2">
              <a:alphaModFix amt="60000"/>
            </a:blip>
            <a:srcRect/>
            <a:stretch>
              <a:fillRect/>
            </a:stretch>
          </a:blipFill>
        </p:spPr>
        <p:txBody>
          <a:bodyPr/>
          <a:lstStyle>
            <a:lvl1pPr marL="0" indent="0">
              <a:buFont typeface="Arial" panose="020B0604020202020204" pitchFamily="34" charset="0"/>
              <a:buNone/>
              <a:defRPr/>
            </a:lvl1pPr>
          </a:lstStyle>
          <a:p>
            <a:r>
              <a:rPr lang="en-US" dirty="0"/>
              <a:t>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3F7B03F-5EDA-605B-1A2E-F48896E489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576142" y="1016954"/>
            <a:ext cx="7082457" cy="5206045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6999"/>
            <a:ext cx="1891338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77000"/>
            <a:ext cx="657226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5CA24FE-7F15-0A35-2050-28F4CE33B91F}"/>
              </a:ext>
            </a:extLst>
          </p:cNvPr>
          <p:cNvSpPr/>
          <p:nvPr/>
        </p:nvSpPr>
        <p:spPr>
          <a:xfrm>
            <a:off x="634030" y="565606"/>
            <a:ext cx="3385521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9E0A62-7502-AFE4-4860-6DE00EB6D1D5}"/>
              </a:ext>
            </a:extLst>
          </p:cNvPr>
          <p:cNvSpPr/>
          <p:nvPr/>
        </p:nvSpPr>
        <p:spPr>
          <a:xfrm>
            <a:off x="4019547" y="565605"/>
            <a:ext cx="8172453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38262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4473C94E-2C8E-3F68-4792-D2F9DD8663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2961" y="5109525"/>
            <a:ext cx="8195638" cy="744634"/>
          </a:xfrm>
        </p:spPr>
        <p:txBody>
          <a:bodyPr anchor="b">
            <a:normAutofit/>
          </a:bodyPr>
          <a:lstStyle>
            <a:lvl1pPr>
              <a:defRPr sz="20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6E6EBA2-EEB8-DB5B-897E-6DAE1530B31E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33400" y="533400"/>
            <a:ext cx="11125200" cy="4576763"/>
          </a:xfrm>
        </p:spPr>
        <p:txBody>
          <a:bodyPr>
            <a:normAutofit/>
          </a:bodyPr>
          <a:lstStyle>
            <a:lvl1pPr marL="0" indent="0">
              <a:buNone/>
              <a:defRPr sz="300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##%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394E47C-0C77-0005-1755-14F7739DF2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77000"/>
            <a:ext cx="8576637" cy="38100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591E5F-EDEF-7D02-30E6-B960B5E4590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77000"/>
            <a:ext cx="1880546" cy="3810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A0528A9-0729-B0FB-328C-3C96994AAB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CD9F1A0-57DB-F034-0AB9-2E671ABA4CDD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6B7340E-9893-2D44-91EA-76771EE522E6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267421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9" y="1016955"/>
            <a:ext cx="11125201" cy="4840285"/>
          </a:xfrm>
          <a:prstGeom prst="rect">
            <a:avLst/>
          </a:prstGeom>
        </p:spPr>
        <p:txBody>
          <a:bodyPr anchor="t">
            <a:noAutofit/>
          </a:bodyPr>
          <a:lstStyle>
            <a:lvl1pPr marL="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lnSpc>
                <a:spcPct val="90000"/>
              </a:lnSpc>
              <a:spcBef>
                <a:spcPts val="0"/>
              </a:spcBef>
              <a:buNone/>
              <a:defRPr sz="7200" b="1">
                <a:solidFill>
                  <a:schemeClr val="bg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0"/>
            <a:ext cx="8576637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39"/>
            <a:ext cx="1891338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0"/>
            <a:ext cx="662624" cy="365761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10F272-8DCB-3D9F-8EA6-FBDD6B7DFDA3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38ED97-EB88-D071-C45A-D0C32569D40D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9295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bg>
      <p:bgPr>
        <a:solidFill>
          <a:schemeClr val="tx2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12FA0A-1F7B-DD41-ECED-02B60BC46B1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7745" y="5216204"/>
            <a:ext cx="8190855" cy="640080"/>
          </a:xfrm>
          <a:prstGeom prst="rect">
            <a:avLst/>
          </a:prstGeom>
        </p:spPr>
        <p:txBody>
          <a:bodyPr anchor="b">
            <a:normAutofit/>
          </a:bodyPr>
          <a:lstStyle>
            <a:lvl1pPr>
              <a:lnSpc>
                <a:spcPct val="120000"/>
              </a:lnSpc>
              <a:defRPr sz="2000" spc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A14BE2EA-8E1E-E2DA-5CCF-46908B013BF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33398" y="1016954"/>
            <a:ext cx="11125201" cy="3711571"/>
          </a:xfrm>
          <a:prstGeom prst="rect">
            <a:avLst/>
          </a:prstGeom>
        </p:spPr>
        <p:txBody>
          <a:bodyPr anchor="t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None/>
              <a:defRPr sz="7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3912E3-7555-EAAB-BE83-59ED3B5C9E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344C372-F7FA-5AA5-92C1-CF476A26623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78961" cy="365760"/>
          </a:xfrm>
          <a:prstGeom prst="rect">
            <a:avLst/>
          </a:prstGeom>
        </p:spPr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6EAECF6-9F03-4C12-4BD4-4E8AE63A4F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68" y="6492241"/>
            <a:ext cx="657231" cy="365760"/>
          </a:xfrm>
          <a:prstGeom prst="rect">
            <a:avLst/>
          </a:prstGeom>
        </p:spPr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F22AFB11-60F0-1BFB-3EE2-25A317606ED4}"/>
              </a:ext>
            </a:extLst>
          </p:cNvPr>
          <p:cNvSpPr/>
          <p:nvPr/>
        </p:nvSpPr>
        <p:spPr>
          <a:xfrm>
            <a:off x="9110040" y="6155911"/>
            <a:ext cx="3081959" cy="6400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DB6C2DA-9756-1101-616C-92AE71300FD8}"/>
              </a:ext>
            </a:extLst>
          </p:cNvPr>
          <p:cNvSpPr/>
          <p:nvPr/>
        </p:nvSpPr>
        <p:spPr>
          <a:xfrm>
            <a:off x="3467745" y="6155911"/>
            <a:ext cx="5642289" cy="6400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9918546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6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7" name="Content Placeholder 5">
            <a:extLst>
              <a:ext uri="{FF2B5EF4-FFF2-40B4-BE49-F238E27FC236}">
                <a16:creationId xmlns:a16="http://schemas.microsoft.com/office/drawing/2014/main" id="{2D30AC1E-99F3-1176-72D1-F6FF258E3075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1883248"/>
            <a:ext cx="5075238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8" name="Content Placeholder 11">
            <a:extLst>
              <a:ext uri="{FF2B5EF4-FFF2-40B4-BE49-F238E27FC236}">
                <a16:creationId xmlns:a16="http://schemas.microsoft.com/office/drawing/2014/main" id="{54CE6F64-34A4-5E4B-21B9-E65B60D60DF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1883248"/>
            <a:ext cx="5075556" cy="4339752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39"/>
            <a:ext cx="662624" cy="365761"/>
          </a:xfrm>
          <a:prstGeom prst="rect">
            <a:avLst/>
          </a:prstGeom>
        </p:spPr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0DF6D21-8591-4FB9-5FF0-44B10800DC79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7345B5-8AF1-C46D-5FB8-FF298EC5943D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13277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bg>
      <p:bgPr>
        <a:solidFill>
          <a:schemeClr val="accent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31520"/>
          </a:xfrm>
          <a:prstGeom prst="rect">
            <a:avLst/>
          </a:prstGeom>
        </p:spPr>
        <p:txBody>
          <a:bodyPr anchor="t"/>
          <a:lstStyle>
            <a:lvl1pPr>
              <a:defRPr cap="all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9" y="1883248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76AAF7-C632-FCD0-6A60-E0EA4A52F22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533399" y="2444434"/>
            <a:ext cx="5075238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583679" y="1883247"/>
            <a:ext cx="5074920" cy="375613"/>
          </a:xfrm>
          <a:prstGeom prst="rect">
            <a:avLst/>
          </a:prstGeom>
        </p:spPr>
        <p:txBody>
          <a:bodyPr anchor="t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CD998360-6973-27D8-8B08-ACAE10572B32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583043" y="2444434"/>
            <a:ext cx="5075556" cy="3778566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AB0A7ECD-2835-13DC-1392-DC6E9D6B14EE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33FF6D6A-BF5E-8499-2E05-993B26BA4977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93050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112519"/>
          </a:xfrm>
          <a:prstGeom prst="rect">
            <a:avLst/>
          </a:prstGeom>
        </p:spPr>
        <p:txBody>
          <a:bodyPr anchor="t"/>
          <a:lstStyle>
            <a:lvl1pPr>
              <a:defRPr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995976" y="6492241"/>
            <a:ext cx="662624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0F7BCB4-DC28-7382-4A0F-0498411C4247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B5560D8-36FC-D0D1-04BB-54F2CCBC8B5E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694177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/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/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623486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1860235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33398" y="3258190"/>
            <a:ext cx="11125201" cy="296481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>
                <a:solidFill>
                  <a:schemeClr val="tx2"/>
                </a:solidFill>
              </a:defRPr>
            </a:lvl1pPr>
            <a:lvl2pPr marL="228600" indent="0">
              <a:buNone/>
              <a:defRPr>
                <a:solidFill>
                  <a:schemeClr val="tx2"/>
                </a:solidFill>
              </a:defRPr>
            </a:lvl2pPr>
            <a:lvl3pPr marL="457200" indent="0">
              <a:buNone/>
              <a:defRPr>
                <a:solidFill>
                  <a:schemeClr val="tx2"/>
                </a:solidFill>
              </a:defRPr>
            </a:lvl3pPr>
            <a:lvl4pPr marL="685800" indent="0">
              <a:buNone/>
              <a:defRPr>
                <a:solidFill>
                  <a:schemeClr val="tx2"/>
                </a:solidFill>
              </a:defRPr>
            </a:lvl4pPr>
            <a:lvl5pPr marL="914400" indent="0">
              <a:buNone/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399" y="6492241"/>
            <a:ext cx="8576637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504949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14990" y="6492241"/>
            <a:ext cx="1043610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0612DD4-C154-5A34-CBE2-09022345DFF5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2"/>
              </a:solidFill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A245B82D-4F13-20D2-DD25-C26E60C48A92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0564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00" y="1016955"/>
            <a:ext cx="8576636" cy="1842020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53FFEDA-E57B-DF13-2394-A1514E15F85A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33400" y="4614992"/>
            <a:ext cx="8576506" cy="1608008"/>
          </a:xfrm>
          <a:prstGeom prst="rect">
            <a:avLst/>
          </a:prstGeom>
        </p:spPr>
        <p:txBody>
          <a:bodyPr>
            <a:noAutofit/>
          </a:bodyPr>
          <a:lstStyle>
            <a:lvl1pPr marL="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2286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4572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3pPr>
            <a:lvl4pPr marL="6858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4pPr>
            <a:lvl5pPr marL="914400" indent="0">
              <a:buNone/>
              <a:defRPr sz="2000" b="1" i="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33400" y="6492241"/>
            <a:ext cx="857663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10036" y="6492240"/>
            <a:ext cx="1891338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001374" y="6492241"/>
            <a:ext cx="657226" cy="365760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C0E45243-34A7-09D9-589C-A28D8FB592BD}"/>
              </a:ext>
            </a:extLst>
          </p:cNvPr>
          <p:cNvSpPr/>
          <p:nvPr/>
        </p:nvSpPr>
        <p:spPr>
          <a:xfrm>
            <a:off x="634029" y="570037"/>
            <a:ext cx="8476007" cy="615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377B2CF5-DB49-E6FB-F72A-24AA38988AEC}"/>
              </a:ext>
            </a:extLst>
          </p:cNvPr>
          <p:cNvSpPr/>
          <p:nvPr/>
        </p:nvSpPr>
        <p:spPr>
          <a:xfrm>
            <a:off x="9110036" y="570037"/>
            <a:ext cx="3081964" cy="61543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658986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398" y="1016955"/>
            <a:ext cx="11125201" cy="746759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33398" y="1748474"/>
            <a:ext cx="11125202" cy="472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33399" y="6476998"/>
            <a:ext cx="8576637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10036" y="6476998"/>
            <a:ext cx="188595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6FCC8004-78F0-4683-A6CB-F4713B7105B6}" type="datetimeFigureOut">
              <a:rPr lang="en-US" smtClean="0"/>
              <a:t>10/15/2026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01379" y="6476998"/>
            <a:ext cx="657221" cy="3810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800">
                <a:solidFill>
                  <a:schemeClr val="tx2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6FA64D72-ED0E-464C-AC26-73A0BCB630B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1161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  <p:sldLayoutId id="2147483686" r:id="rId26"/>
    <p:sldLayoutId id="2147483687" r:id="rId27"/>
  </p:sldLayoutIdLst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0" kern="1200" spc="0" baseline="0">
          <a:solidFill>
            <a:schemeClr val="tx2"/>
          </a:solidFill>
          <a:latin typeface="+mj-lt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1pPr>
      <a:lvl2pPr marL="457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2pPr>
      <a:lvl3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3pPr>
      <a:lvl4pPr marL="914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4pPr>
      <a:lvl5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400" kern="1200">
          <a:solidFill>
            <a:schemeClr val="tx2"/>
          </a:solidFill>
          <a:latin typeface="+mn-lt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0" orient="horz" pos="2160">
          <p15:clr>
            <a:srgbClr val="F26B43"/>
          </p15:clr>
        </p15:guide>
        <p15:guide id="31" pos="3840">
          <p15:clr>
            <a:srgbClr val="F26B43"/>
          </p15:clr>
        </p15:guide>
        <p15:guide id="32" pos="336">
          <p15:clr>
            <a:srgbClr val="F26B43"/>
          </p15:clr>
        </p15:guide>
        <p15:guide id="33" pos="7344">
          <p15:clr>
            <a:srgbClr val="F26B43"/>
          </p15:clr>
        </p15:guide>
        <p15:guide id="34" orient="horz" pos="4080">
          <p15:clr>
            <a:srgbClr val="F26B43"/>
          </p15:clr>
        </p15:guide>
        <p15:guide id="35" orient="horz" pos="1344">
          <p15:clr>
            <a:srgbClr val="F26B43"/>
          </p15:clr>
        </p15:guide>
        <p15:guide id="36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D90975-D214-4D63-F63C-8212F313BF6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2219" y="1016954"/>
            <a:ext cx="10038736" cy="4076155"/>
          </a:xfrm>
        </p:spPr>
        <p:txBody>
          <a:bodyPr>
            <a:normAutofit/>
          </a:bodyPr>
          <a:lstStyle/>
          <a:p>
            <a:pPr algn="ctr"/>
            <a:r>
              <a:rPr lang="en-US" dirty="0"/>
              <a:t>Why Private Equity Is </a:t>
            </a:r>
            <a:r>
              <a:rPr lang="en-US" dirty="0" err="1"/>
              <a:t>InVolved</a:t>
            </a:r>
            <a:r>
              <a:rPr lang="en-US" dirty="0"/>
              <a:t> With</a:t>
            </a:r>
            <a:br>
              <a:rPr lang="en-US" dirty="0"/>
            </a:br>
            <a:r>
              <a:rPr lang="en-US" dirty="0" err="1"/>
              <a:t>LifE</a:t>
            </a:r>
            <a:r>
              <a:rPr lang="en-US" dirty="0"/>
              <a:t> Insurance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EF4AC0-890B-2B92-ECB4-66C16EB15FF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Alejandro Flores-Brown</a:t>
            </a:r>
          </a:p>
        </p:txBody>
      </p:sp>
    </p:spTree>
    <p:extLst>
      <p:ext uri="{BB962C8B-B14F-4D97-AF65-F5344CB8AC3E}">
        <p14:creationId xmlns:p14="http://schemas.microsoft.com/office/powerpoint/2010/main" val="62809080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5A02B2-FB24-9081-ABC6-4AD9E80C9F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What is Private Equity?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83C741-038C-2FBE-98F2-CDCFDAE9A0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9" y="1748474"/>
            <a:ext cx="5423386" cy="4728524"/>
          </a:xfrm>
        </p:spPr>
        <p:txBody>
          <a:bodyPr>
            <a:normAutofit/>
          </a:bodyPr>
          <a:lstStyle/>
          <a:p>
            <a:r>
              <a:rPr lang="en-US" sz="2800" dirty="0"/>
              <a:t>Public Equity: stock market, public firms</a:t>
            </a:r>
          </a:p>
          <a:p>
            <a:r>
              <a:rPr lang="en-US" sz="2800" dirty="0"/>
              <a:t>Private Equity: everything else</a:t>
            </a:r>
          </a:p>
          <a:p>
            <a:r>
              <a:rPr lang="en-US" sz="2800" dirty="0"/>
              <a:t>Idea: Private return &gt; Public return?</a:t>
            </a:r>
          </a:p>
          <a:p>
            <a:pPr lvl="1"/>
            <a:r>
              <a:rPr lang="en-US" sz="2800" dirty="0"/>
              <a:t>(Recall: also more risk . . . )</a:t>
            </a:r>
          </a:p>
          <a:p>
            <a:pPr lvl="1"/>
            <a:r>
              <a:rPr lang="en-US" sz="2800" dirty="0"/>
              <a:t>Also much less transparency!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DE28F65-0AEC-D8A5-8D6E-A4F9087FA49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0525" y="1763714"/>
            <a:ext cx="5423386" cy="3444854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DE5F83-9828-AC0F-6034-4BDA4718D776}"/>
              </a:ext>
            </a:extLst>
          </p:cNvPr>
          <p:cNvSpPr txBox="1"/>
          <p:nvPr/>
        </p:nvSpPr>
        <p:spPr>
          <a:xfrm>
            <a:off x="6551525" y="5687367"/>
            <a:ext cx="5322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Source: </a:t>
            </a:r>
            <a:r>
              <a:rPr lang="en-US" i="1" dirty="0" err="1"/>
              <a:t>BrandingBusiness</a:t>
            </a:r>
            <a:endParaRPr lang="en-US" i="1" dirty="0"/>
          </a:p>
        </p:txBody>
      </p:sp>
    </p:spTree>
    <p:extLst>
      <p:ext uri="{BB962C8B-B14F-4D97-AF65-F5344CB8AC3E}">
        <p14:creationId xmlns:p14="http://schemas.microsoft.com/office/powerpoint/2010/main" val="29460247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F14968-4C45-CFB4-A22D-ABF434EA73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871BE-5A42-777C-D5B5-9A25A9694A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Why Life Insurance?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B5E934-DA92-F476-DB7F-FF0A817266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6142705" cy="4728524"/>
          </a:xfrm>
        </p:spPr>
        <p:txBody>
          <a:bodyPr>
            <a:normAutofit/>
          </a:bodyPr>
          <a:lstStyle/>
          <a:p>
            <a:r>
              <a:rPr lang="en-US" sz="2800" dirty="0"/>
              <a:t>Life insurance: large portfolio with large + </a:t>
            </a:r>
            <a:r>
              <a:rPr lang="en-US" sz="2800" i="1" dirty="0"/>
              <a:t>long</a:t>
            </a:r>
            <a:r>
              <a:rPr lang="en-US" sz="2800" dirty="0"/>
              <a:t> cashflows </a:t>
            </a:r>
          </a:p>
          <a:p>
            <a:pPr lvl="1"/>
            <a:r>
              <a:rPr lang="en-US" sz="2800" dirty="0"/>
              <a:t>Imagine annuity: 30 years pay in, 20 years pay out</a:t>
            </a:r>
          </a:p>
          <a:p>
            <a:pPr lvl="1"/>
            <a:r>
              <a:rPr lang="en-US" sz="2800" dirty="0"/>
              <a:t>Balance sheet funded with investments =&gt; huge stock of capital</a:t>
            </a:r>
          </a:p>
          <a:p>
            <a:pPr lvl="1"/>
            <a:r>
              <a:rPr lang="en-US" sz="2800" dirty="0"/>
              <a:t>+ reserves required by law</a:t>
            </a:r>
          </a:p>
          <a:p>
            <a:pPr lvl="1"/>
            <a:r>
              <a:rPr lang="en-US" sz="2800" dirty="0"/>
              <a:t>This is a lot of money to be invested . . .</a:t>
            </a:r>
          </a:p>
        </p:txBody>
      </p:sp>
      <p:pic>
        <p:nvPicPr>
          <p:cNvPr id="4" name="Picture 3" descr="Consolidated Balance Sheets">
            <a:extLst>
              <a:ext uri="{FF2B5EF4-FFF2-40B4-BE49-F238E27FC236}">
                <a16:creationId xmlns:a16="http://schemas.microsoft.com/office/drawing/2014/main" id="{026B4640-17C2-3338-A574-B07C5E6BC7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3844" y="1748474"/>
            <a:ext cx="5008603" cy="44999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0450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6B499-2C67-D107-9AD2-3A18740A01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algn="ctr"/>
            <a:r>
              <a:rPr lang="en-US" sz="4400" dirty="0"/>
              <a:t>WHY TOGETHER?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817E99F-E45C-F0F3-1193-E4D1CC6E0F87}"/>
              </a:ext>
            </a:extLst>
          </p:cNvPr>
          <p:cNvSpPr txBox="1"/>
          <p:nvPr/>
        </p:nvSpPr>
        <p:spPr>
          <a:xfrm>
            <a:off x="1170040" y="4908848"/>
            <a:ext cx="10488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Quarterly returns before &amp; after insurance company is acquired by private equity firm</a:t>
            </a:r>
          </a:p>
          <a:p>
            <a:r>
              <a:rPr lang="en-US" i="1" dirty="0"/>
              <a:t>(Kirti &amp; Sarin, 2024)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32C91BAB-FABD-8A7E-B7D9-DEA9F51518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97" y="1763715"/>
            <a:ext cx="5562607" cy="2813396"/>
          </a:xfrm>
          <a:prstGeom prst="rect">
            <a:avLst/>
          </a:prstGeom>
        </p:spPr>
      </p:pic>
      <p:pic>
        <p:nvPicPr>
          <p:cNvPr id="10" name="Content Placeholder 9">
            <a:extLst>
              <a:ext uri="{FF2B5EF4-FFF2-40B4-BE49-F238E27FC236}">
                <a16:creationId xmlns:a16="http://schemas.microsoft.com/office/drawing/2014/main" id="{77C3B5F0-B8A9-B5C7-D66D-45F34A15182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392" y="1763714"/>
            <a:ext cx="5562607" cy="2749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170716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634D0-8976-2D12-CB22-8E3DB6C3C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Why Together?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EEF672-1E9C-9205-9B9C-24827A6A07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464279" cy="4728524"/>
          </a:xfrm>
        </p:spPr>
        <p:txBody>
          <a:bodyPr>
            <a:normAutofit/>
          </a:bodyPr>
          <a:lstStyle/>
          <a:p>
            <a:r>
              <a:rPr lang="en-US" sz="2800" dirty="0"/>
              <a:t>Private equity can seek higher return b/c different regulation</a:t>
            </a:r>
          </a:p>
          <a:p>
            <a:pPr lvl="1"/>
            <a:r>
              <a:rPr lang="en-US" sz="2800" dirty="0"/>
              <a:t>+ Insurance regulation changes post-GFC</a:t>
            </a:r>
          </a:p>
          <a:p>
            <a:pPr lvl="1"/>
            <a:r>
              <a:rPr lang="en-US" sz="2800" dirty="0"/>
              <a:t>Two-way street! Insurance moved first</a:t>
            </a:r>
          </a:p>
          <a:p>
            <a:r>
              <a:rPr lang="en-US" sz="2800" dirty="0"/>
              <a:t>Results: top five investment firms own insurance companies</a:t>
            </a:r>
          </a:p>
          <a:p>
            <a:r>
              <a:rPr lang="en-US" sz="2800" dirty="0"/>
              <a:t>More involvement projected (NAIC): + P&amp;C, Health . . . 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10DAC0A-FC08-4516-B7FA-0B56E50848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7606" y="1748474"/>
            <a:ext cx="5581063" cy="383958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8B4CC848-7E7B-662A-5EA9-72D15363A8F6}"/>
              </a:ext>
            </a:extLst>
          </p:cNvPr>
          <p:cNvSpPr txBox="1"/>
          <p:nvPr/>
        </p:nvSpPr>
        <p:spPr>
          <a:xfrm>
            <a:off x="6340510" y="5978769"/>
            <a:ext cx="525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Source: Foley-Fisher, Heinrich, and </a:t>
            </a:r>
            <a:r>
              <a:rPr lang="en-US" i="1" dirty="0" err="1"/>
              <a:t>Verani</a:t>
            </a:r>
            <a:r>
              <a:rPr lang="en-US" i="1" dirty="0"/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27857257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1FCBF-D672-4E90-E875-D0CE73936C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The Tradeoff: Risk vs. Reward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A0A68C-535D-AC5D-40D6-E9DC95F942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562602" cy="4728524"/>
          </a:xfrm>
        </p:spPr>
        <p:txBody>
          <a:bodyPr>
            <a:normAutofit/>
          </a:bodyPr>
          <a:lstStyle/>
          <a:p>
            <a:r>
              <a:rPr lang="en-US" sz="2800" dirty="0"/>
              <a:t>Higher return = Higher risk</a:t>
            </a:r>
          </a:p>
          <a:p>
            <a:pPr lvl="1"/>
            <a:r>
              <a:rPr lang="en-US" sz="2800" dirty="0"/>
              <a:t>lower-grade bonds =&gt; </a:t>
            </a:r>
            <a:r>
              <a:rPr lang="en-US" sz="2800" i="1" dirty="0"/>
              <a:t>default risk</a:t>
            </a:r>
            <a:endParaRPr lang="en-US" sz="2800" dirty="0"/>
          </a:p>
          <a:p>
            <a:pPr lvl="1"/>
            <a:r>
              <a:rPr lang="en-US" sz="2800" dirty="0"/>
              <a:t>Prices adjust =&gt; exposure up</a:t>
            </a:r>
          </a:p>
          <a:p>
            <a:r>
              <a:rPr lang="en-US" sz="2800" dirty="0"/>
              <a:t>Does this risk hurt regular people?</a:t>
            </a:r>
          </a:p>
          <a:p>
            <a:pPr lvl="1"/>
            <a:r>
              <a:rPr lang="en-US" sz="2800" dirty="0"/>
              <a:t>Insurance company funds guaranteed from bankruptcy</a:t>
            </a:r>
          </a:p>
          <a:p>
            <a:pPr lvl="2"/>
            <a:r>
              <a:rPr lang="en-US" sz="2800" dirty="0"/>
              <a:t>Eventual costs fall on </a:t>
            </a:r>
            <a:r>
              <a:rPr lang="en-US" sz="2800" i="1" dirty="0"/>
              <a:t>taxpayers</a:t>
            </a:r>
          </a:p>
        </p:txBody>
      </p:sp>
      <p:pic>
        <p:nvPicPr>
          <p:cNvPr id="4" name="Picture 3" descr="TARP, Emergency Intervention, and Equity Stakes | Cato Institute">
            <a:extLst>
              <a:ext uri="{FF2B5EF4-FFF2-40B4-BE49-F238E27FC236}">
                <a16:creationId xmlns:a16="http://schemas.microsoft.com/office/drawing/2014/main" id="{276CFABE-9C6E-CD6B-88D6-727B7C053F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998" y="1763714"/>
            <a:ext cx="5398086" cy="3397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1908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BCB8F-7AD3-4995-CBC6-7CA6F5371A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400" dirty="0"/>
              <a:t>Bond Movements upon Acquisition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F529C29C-5948-0391-E5CF-1F77BF174E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3379" y="1763714"/>
            <a:ext cx="5477516" cy="274929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49E63327-B409-E8E1-1744-9DCE44A8F98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81084" y="1763714"/>
            <a:ext cx="5477516" cy="274929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DFA364EE-F8F3-5C66-F5BC-C74667F1B884}"/>
              </a:ext>
            </a:extLst>
          </p:cNvPr>
          <p:cNvSpPr txBox="1"/>
          <p:nvPr/>
        </p:nvSpPr>
        <p:spPr>
          <a:xfrm>
            <a:off x="643379" y="4917715"/>
            <a:ext cx="1101522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800" i="1" dirty="0"/>
              <a:t>Share of portfolio in risky bonds across weeks before &amp; after acquisition by a private equity firm, relative to non-PE insurance companies</a:t>
            </a:r>
          </a:p>
          <a:p>
            <a:r>
              <a:rPr lang="en-US" sz="1800" i="1" dirty="0"/>
              <a:t>(Kirti &amp; Sarin, 2024)</a:t>
            </a:r>
          </a:p>
        </p:txBody>
      </p:sp>
    </p:spTree>
    <p:extLst>
      <p:ext uri="{BB962C8B-B14F-4D97-AF65-F5344CB8AC3E}">
        <p14:creationId xmlns:p14="http://schemas.microsoft.com/office/powerpoint/2010/main" val="916115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71BCA-4569-DCAB-8BDD-FC3F632C1E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Alpha?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C470A3-531D-24CA-A0C3-280A7094AF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5946060" cy="4728524"/>
          </a:xfrm>
        </p:spPr>
        <p:txBody>
          <a:bodyPr>
            <a:normAutofit/>
          </a:bodyPr>
          <a:lstStyle/>
          <a:p>
            <a:r>
              <a:rPr lang="en-US" sz="2800" dirty="0"/>
              <a:t>Private equity also seeks return above CAPM!</a:t>
            </a:r>
          </a:p>
          <a:p>
            <a:r>
              <a:rPr lang="en-US" sz="2800" dirty="0"/>
              <a:t>Regulatory arbitrage: private equity can move money more effectively than insurance</a:t>
            </a:r>
          </a:p>
          <a:p>
            <a:pPr lvl="1"/>
            <a:r>
              <a:rPr lang="en-US" sz="2800" dirty="0"/>
              <a:t>Move premium collection to subsidiary in low-tax locale</a:t>
            </a:r>
          </a:p>
          <a:p>
            <a:pPr lvl="2"/>
            <a:r>
              <a:rPr lang="en-US" sz="2800" dirty="0"/>
              <a:t>Captive insurers in Bermuda</a:t>
            </a:r>
          </a:p>
          <a:p>
            <a:pPr lvl="1"/>
            <a:r>
              <a:rPr lang="en-US" sz="2800" dirty="0"/>
              <a:t>This may not be entirely legal . . .</a:t>
            </a:r>
          </a:p>
        </p:txBody>
      </p:sp>
      <p:pic>
        <p:nvPicPr>
          <p:cNvPr id="9" name="Picture 8" descr="TOP 10 Reinsurers in Bermuda by Assets">
            <a:extLst>
              <a:ext uri="{FF2B5EF4-FFF2-40B4-BE49-F238E27FC236}">
                <a16:creationId xmlns:a16="http://schemas.microsoft.com/office/drawing/2014/main" id="{496950DD-2D33-AD78-B73F-53FD55BE9D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9457" y="1763714"/>
            <a:ext cx="5179141" cy="413755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BF9EDCF-E53A-6161-AA81-66B62A938723}"/>
              </a:ext>
            </a:extLst>
          </p:cNvPr>
          <p:cNvSpPr txBox="1"/>
          <p:nvPr/>
        </p:nvSpPr>
        <p:spPr>
          <a:xfrm>
            <a:off x="6479457" y="6107666"/>
            <a:ext cx="2492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Source: BEInsure.com</a:t>
            </a:r>
          </a:p>
        </p:txBody>
      </p:sp>
    </p:spTree>
    <p:extLst>
      <p:ext uri="{BB962C8B-B14F-4D97-AF65-F5344CB8AC3E}">
        <p14:creationId xmlns:p14="http://schemas.microsoft.com/office/powerpoint/2010/main" val="297657169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53FBFB-68D2-F2C0-0927-653B35879A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sz="4400" dirty="0"/>
              <a:t>What about systemic risk . . . 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73DDCE-AF23-0556-55B2-00811DD144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3398" y="1748474"/>
            <a:ext cx="11125202" cy="3339556"/>
          </a:xfrm>
        </p:spPr>
        <p:txBody>
          <a:bodyPr/>
          <a:lstStyle/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5F4EF7-8EE3-4962-A290-8D784391D3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3398" y="1763714"/>
            <a:ext cx="11125201" cy="3324316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ABED7F5-8E6B-1B19-ABF8-0AF664CBCE84}"/>
              </a:ext>
            </a:extLst>
          </p:cNvPr>
          <p:cNvSpPr txBox="1"/>
          <p:nvPr/>
        </p:nvSpPr>
        <p:spPr>
          <a:xfrm>
            <a:off x="609560" y="5841045"/>
            <a:ext cx="1097287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i="1" dirty="0"/>
              <a:t>What if something happens that affects all private equity firms . . . ?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D237959-9545-B424-B962-B3833CCC6894}"/>
              </a:ext>
            </a:extLst>
          </p:cNvPr>
          <p:cNvSpPr txBox="1"/>
          <p:nvPr/>
        </p:nvSpPr>
        <p:spPr>
          <a:xfrm>
            <a:off x="6408316" y="5368830"/>
            <a:ext cx="52502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Source: Foley-Fisher, Heinrich, and </a:t>
            </a:r>
            <a:r>
              <a:rPr lang="en-US" i="1" dirty="0" err="1"/>
              <a:t>Verani</a:t>
            </a:r>
            <a:r>
              <a:rPr lang="en-US" i="1" dirty="0"/>
              <a:t> (2023)</a:t>
            </a:r>
          </a:p>
        </p:txBody>
      </p:sp>
    </p:spTree>
    <p:extLst>
      <p:ext uri="{BB962C8B-B14F-4D97-AF65-F5344CB8AC3E}">
        <p14:creationId xmlns:p14="http://schemas.microsoft.com/office/powerpoint/2010/main" val="862561251"/>
      </p:ext>
    </p:extLst>
  </p:cSld>
  <p:clrMapOvr>
    <a:masterClrMapping/>
  </p:clrMapOvr>
</p:sld>
</file>

<file path=ppt/theme/theme1.xml><?xml version="1.0" encoding="utf-8"?>
<a:theme xmlns:a="http://schemas.openxmlformats.org/drawingml/2006/main" name="Modulo">
  <a:themeElements>
    <a:clrScheme name="Project Status Report">
      <a:dk1>
        <a:srgbClr val="000000"/>
      </a:dk1>
      <a:lt1>
        <a:srgbClr val="FFFFFF"/>
      </a:lt1>
      <a:dk2>
        <a:srgbClr val="3B4546"/>
      </a:dk2>
      <a:lt2>
        <a:srgbClr val="E7E6E6"/>
      </a:lt2>
      <a:accent1>
        <a:srgbClr val="B36041"/>
      </a:accent1>
      <a:accent2>
        <a:srgbClr val="6F8185"/>
      </a:accent2>
      <a:accent3>
        <a:srgbClr val="C78F8F"/>
      </a:accent3>
      <a:accent4>
        <a:srgbClr val="647961"/>
      </a:accent4>
      <a:accent5>
        <a:srgbClr val="B09C54"/>
      </a:accent5>
      <a:accent6>
        <a:srgbClr val="9AA749"/>
      </a:accent6>
      <a:hlink>
        <a:srgbClr val="75A073"/>
      </a:hlink>
      <a:folHlink>
        <a:srgbClr val="BD9C5C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odulo" id="{37AC43F2-9181-4AE3-B669-CCC580C183C1}" vid="{7A2AE0A7-E8DE-4D1D-AEB1-3FD19244829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Modulo</Template>
  <TotalTime>1723</TotalTime>
  <Words>556</Words>
  <Application>Microsoft Office PowerPoint</Application>
  <PresentationFormat>Widescreen</PresentationFormat>
  <Paragraphs>60</Paragraphs>
  <Slides>9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Aptos</vt:lpstr>
      <vt:lpstr>Arial</vt:lpstr>
      <vt:lpstr>Modulo</vt:lpstr>
      <vt:lpstr>Why Private Equity Is InVolved With LifE Insurance</vt:lpstr>
      <vt:lpstr>What is Private Equity?</vt:lpstr>
      <vt:lpstr>Why Life Insurance?</vt:lpstr>
      <vt:lpstr>WHY TOGETHER?</vt:lpstr>
      <vt:lpstr>Why Together?</vt:lpstr>
      <vt:lpstr>The Tradeoff: Risk vs. Reward</vt:lpstr>
      <vt:lpstr>Bond Movements upon Acquisition</vt:lpstr>
      <vt:lpstr>Alpha?</vt:lpstr>
      <vt:lpstr>What about systemic risk . . . ?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Alejandro D Flores-Brown</dc:creator>
  <cp:lastModifiedBy>Alejandro D Flores-Brown</cp:lastModifiedBy>
  <cp:revision>11</cp:revision>
  <dcterms:created xsi:type="dcterms:W3CDTF">2026-10-07T19:45:54Z</dcterms:created>
  <dcterms:modified xsi:type="dcterms:W3CDTF">2026-10-15T19:17:36Z</dcterms:modified>
</cp:coreProperties>
</file>