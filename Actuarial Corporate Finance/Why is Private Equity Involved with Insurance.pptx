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518A6-9163-4276-B002-0DEEB81E017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BE256-4493-490F-A5DD-49D2828D8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68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regulatory requirements</a:t>
            </a:r>
            <a:br>
              <a:rPr lang="en-US" dirty="0"/>
            </a:br>
            <a:r>
              <a:rPr lang="en-US" dirty="0"/>
              <a:t>contrast mutual funds owned by their investors since that’s a same-day topic!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BE256-4493-490F-A5DD-49D2828D83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92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Reserves: life insurance companies fund products with large, (theoretically) stable portfolios</a:t>
            </a:r>
            <a:br>
              <a:rPr lang="en-US" dirty="0"/>
            </a:br>
            <a:r>
              <a:rPr lang="en-US" dirty="0"/>
              <a:t>Regulation changes: investment grade of bonds -&gt; book value of bonds; allowed for holding riskier debt</a:t>
            </a:r>
          </a:p>
          <a:p>
            <a:r>
              <a:rPr lang="en-US" dirty="0"/>
              <a:t>NAIC: national association of insurance commissioners – independent body advising regulators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BE256-4493-490F-A5DD-49D2828D83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48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BE256-4493-490F-A5DD-49D2828D83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76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Companies think this is worth it; regulators aren’t sure</a:t>
            </a:r>
          </a:p>
          <a:p>
            <a:r>
              <a:rPr lang="en-US" dirty="0"/>
              <a:t>Bankruptcy issue: we don’t want people to pay for an annuity for twenty years and lose it, so the government (+ insurance companies through tax credits) absorb bill. With equity: people can just lose their stock</a:t>
            </a:r>
          </a:p>
          <a:p>
            <a:r>
              <a:rPr lang="en-US" dirty="0"/>
              <a:t>Systemic risk: all these companies + books interconnected; what happens if there is a large shock?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BE256-4493-490F-A5DD-49D2828D83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34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7403D-7FEC-F05C-3FEE-5141DC77B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3B2F70-8B74-FD8C-94CB-E2B6E2181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AAE5C-2F3A-17A3-CF73-3A5F0225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8004-78F0-4683-A6CB-F4713B7105B6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E0CAA-F396-2D1F-C069-DFA4BB53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E4B62-E8B6-7C2F-B542-284890BE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4D72-ED0E-464C-AC26-73A0BCB6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09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21DC-5BB1-75E1-72C1-B423514D5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C07C2-EB8C-2E4A-8809-DA200B681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A21EB-07D1-5053-27E0-3491227D1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8004-78F0-4683-A6CB-F4713B7105B6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22E4B-D503-7972-03D6-E1275D4C9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85594-DE9B-4376-8DBE-7CFE5B06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4D72-ED0E-464C-AC26-73A0BCB6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2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C07C-79D0-588F-4345-6A2F2641C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79F22-D031-A818-E092-BB4450B73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4ED02-DBEC-2338-D3AD-B5DE67B7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8004-78F0-4683-A6CB-F4713B7105B6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5AECB-347F-3915-5C35-E2CB57A6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FDDCE-8D19-12AD-E2E6-8A3427CE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4D72-ED0E-464C-AC26-73A0BCB6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142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9694D-5665-410F-14FD-7048E780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685DD-BB85-24E1-4B69-2C47A927D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639EC-7F2B-45D2-1E21-5D3DCEA32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702DF-5C35-B38F-622D-36D963B2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8004-78F0-4683-A6CB-F4713B7105B6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037D4-EDAC-5B0B-8E08-53AC882FE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270E6-08F6-1AC7-F229-F469CE8A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4D72-ED0E-464C-AC26-73A0BCB6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0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5926B-6763-14B9-CD09-0EC338C6A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0A4EA-D6A0-C74D-D56E-31E7E5CAF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EB8BF-F04B-AB1C-5413-164B277E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19C27-609A-5932-8201-820BFF75F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15F16-0112-49EA-0EF6-DD9904B75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33ED1-CD29-1CF8-0D8F-FF726381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8004-78F0-4683-A6CB-F4713B7105B6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66D7C3-E9E3-A53F-05B9-7F02DBF5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007452-D3E5-5D40-DD9D-747AA3D9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4D72-ED0E-464C-AC26-73A0BCB6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71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CD482-1905-5220-9E7C-7DC1D9A93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55114-C9D7-1E38-4F6C-B892AA3C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8004-78F0-4683-A6CB-F4713B7105B6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529CE-006A-C6AC-F039-3CD3C21BA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84662-F435-4088-5BDA-6F331975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4D72-ED0E-464C-AC26-73A0BCB6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14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B93366-F978-068E-B456-B2AD24DB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8004-78F0-4683-A6CB-F4713B7105B6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3D0D2F-8A2E-EAE9-9B61-2F6B22B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68554-F501-D2BD-3659-BDE30D590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4D72-ED0E-464C-AC26-73A0BCB6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74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29FC-D4D4-D6FA-5FC9-1BE80B18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56FB4-715D-9C49-45B8-916582F65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F74CD-5B5B-07FF-59D9-05FB83685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D0BE8-5FAA-5AA8-BD87-97EBF605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8004-78F0-4683-A6CB-F4713B7105B6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8A9F6-86D1-E5CB-65D7-2C748437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70926-FF3D-1EA7-00D2-4425E8E1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4D72-ED0E-464C-AC26-73A0BCB6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29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94FA9-A593-2519-90AD-DD613CA60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145CED-7EAE-4611-E853-305DC5B42E4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03DC7-7001-2BF9-4BDF-D52ED75A6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F10A3-D467-589C-B5DD-5EC3B99D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8004-78F0-4683-A6CB-F4713B7105B6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BC1E0-A959-7585-6A23-2B09C28D1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4D17F-0F4D-5889-A925-9B2F736C9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4D72-ED0E-464C-AC26-73A0BCB6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3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3758D-EC1C-E5D0-58F6-A9F48D1B3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CE691-2F75-0894-AAF5-EEECCDDE8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30C93-0600-0091-28FF-25B5C4A2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8004-78F0-4683-A6CB-F4713B7105B6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C9AA9-71D5-7C42-EC3C-D824D88F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3BF07-DAE2-77C7-F8DB-5EB77252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4D72-ED0E-464C-AC26-73A0BCB6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81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00DED7-0EE4-1E87-B8AB-367F2C3265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36E34-1898-86D5-4A84-2F323A66D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17B4B-CBCB-3BC6-CFF6-832B1D382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8004-78F0-4683-A6CB-F4713B7105B6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F5BD1-26BC-D8B5-59E6-057F1DE05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7B53C-C12D-C27D-E130-D5D3D86D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4D72-ED0E-464C-AC26-73A0BCB6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58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19A2A7-061C-4F99-1BF0-E5B08B5A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37F89-2555-D4D0-2E8D-FF7722159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BBB2A-D811-0A99-8211-AD1715F0E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C8004-78F0-4683-A6CB-F4713B7105B6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9632F-D8DF-FF3D-9A1B-C64BB469A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47378-C0E7-584D-3AC5-D9B3AEDB1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64D72-ED0E-464C-AC26-73A0BCB6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25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90975-D214-4D63-F63C-8212F313BF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is Private Equity Involved with Insurance?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F4AC0-890B-2B92-ECB4-66C16EB15F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90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A02B2-FB24-9081-ABC6-4AD9E80C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Private Equity?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3C741-038C-2FBE-98F2-CDCFDAE9A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Public Equity: stock market, public firms</a:t>
            </a:r>
          </a:p>
          <a:p>
            <a:r>
              <a:rPr lang="en-US" dirty="0"/>
              <a:t>Private Equity: everything else</a:t>
            </a:r>
          </a:p>
          <a:p>
            <a:r>
              <a:rPr lang="en-US" dirty="0"/>
              <a:t>Idea: Private return &gt; Public return? (but also more risk . . . )</a:t>
            </a:r>
          </a:p>
          <a:p>
            <a:pPr lvl="1"/>
            <a:r>
              <a:rPr lang="en-US" dirty="0"/>
              <a:t>Also much less transparency!</a:t>
            </a:r>
          </a:p>
        </p:txBody>
      </p:sp>
    </p:spTree>
    <p:extLst>
      <p:ext uri="{BB962C8B-B14F-4D97-AF65-F5344CB8AC3E}">
        <p14:creationId xmlns:p14="http://schemas.microsoft.com/office/powerpoint/2010/main" val="2946024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34D0-8976-2D12-CB22-8E3DB6C3C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Insurance?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F672-1E9C-9205-9B9C-24827A6A0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Reserves!</a:t>
            </a:r>
          </a:p>
          <a:p>
            <a:pPr lvl="1"/>
            <a:r>
              <a:rPr lang="en-US" dirty="0"/>
              <a:t>HUGE stock of capital</a:t>
            </a:r>
          </a:p>
          <a:p>
            <a:r>
              <a:rPr lang="en-US" dirty="0"/>
              <a:t>Private equity can seek higher return b/c different regulation</a:t>
            </a:r>
          </a:p>
          <a:p>
            <a:pPr lvl="1"/>
            <a:r>
              <a:rPr lang="en-US" dirty="0"/>
              <a:t>+ Insurance regulation changes post-GFC</a:t>
            </a:r>
          </a:p>
          <a:p>
            <a:pPr lvl="1"/>
            <a:r>
              <a:rPr lang="en-US" dirty="0"/>
              <a:t>Two-way street!</a:t>
            </a:r>
          </a:p>
          <a:p>
            <a:r>
              <a:rPr lang="en-US" dirty="0"/>
              <a:t>Results: top five investment firms own all or part of an insurance company (as of 2023)</a:t>
            </a:r>
          </a:p>
          <a:p>
            <a:r>
              <a:rPr lang="en-US" dirty="0"/>
              <a:t>More involvement projected (NAIC: Life, P&amp;C, Health . . . everything)</a:t>
            </a:r>
          </a:p>
        </p:txBody>
      </p:sp>
    </p:spTree>
    <p:extLst>
      <p:ext uri="{BB962C8B-B14F-4D97-AF65-F5344CB8AC3E}">
        <p14:creationId xmlns:p14="http://schemas.microsoft.com/office/powerpoint/2010/main" val="278572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6B499-2C67-D107-9AD2-3A18740A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Quarterly Returns, before/after PE Acquisition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7E99F-E45C-F0F3-1193-E4D1CC6E0F87}"/>
              </a:ext>
            </a:extLst>
          </p:cNvPr>
          <p:cNvSpPr txBox="1"/>
          <p:nvPr/>
        </p:nvSpPr>
        <p:spPr>
          <a:xfrm>
            <a:off x="8179358" y="6127234"/>
            <a:ext cx="207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(Kirti &amp; Sarin, 2024)</a:t>
            </a:r>
          </a:p>
        </p:txBody>
      </p:sp>
      <p:pic>
        <p:nvPicPr>
          <p:cNvPr id="9" name="Content Placeholder 8" descr="Quarterly portfolio composition in event time">
            <a:extLst>
              <a:ext uri="{FF2B5EF4-FFF2-40B4-BE49-F238E27FC236}">
                <a16:creationId xmlns:a16="http://schemas.microsoft.com/office/drawing/2014/main" id="{EB99CA69-17BD-772A-F47F-F27B8039F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80620" y="1494424"/>
            <a:ext cx="4771595" cy="481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71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FCBF-D672-4E90-E875-D0CE7393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Tradeoff: Risk vs. Reward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0A68C-535D-AC5D-40D6-E9DC95F94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CAPM: higher return = higher risk</a:t>
            </a:r>
          </a:p>
          <a:p>
            <a:r>
              <a:rPr lang="en-US" dirty="0"/>
              <a:t>Private equity offers higher return . . . but also more risk of failure</a:t>
            </a:r>
          </a:p>
          <a:p>
            <a:pPr lvl="1"/>
            <a:r>
              <a:rPr lang="en-US" dirty="0"/>
              <a:t>PE invests in lower-grade bonds</a:t>
            </a:r>
          </a:p>
          <a:p>
            <a:pPr lvl="1"/>
            <a:r>
              <a:rPr lang="en-US" dirty="0"/>
              <a:t>Higher portfolio return =&gt; lower prices =&gt; more customers?</a:t>
            </a:r>
          </a:p>
          <a:p>
            <a:r>
              <a:rPr lang="en-US" dirty="0"/>
              <a:t>Does this risk hurt regular people?</a:t>
            </a:r>
          </a:p>
          <a:p>
            <a:pPr lvl="1"/>
            <a:r>
              <a:rPr lang="en-US" dirty="0"/>
              <a:t>Insurance company funds guaranteed from bankruptcy</a:t>
            </a:r>
          </a:p>
          <a:p>
            <a:pPr lvl="2"/>
            <a:r>
              <a:rPr lang="en-US" dirty="0"/>
              <a:t>So eventual costs fall on </a:t>
            </a:r>
            <a:r>
              <a:rPr lang="en-US" i="1" dirty="0"/>
              <a:t>taxpayers </a:t>
            </a:r>
            <a:r>
              <a:rPr lang="en-US" dirty="0"/>
              <a:t>(and other insurers)</a:t>
            </a:r>
            <a:endParaRPr lang="en-US" i="1" dirty="0"/>
          </a:p>
          <a:p>
            <a:r>
              <a:rPr lang="en-US" dirty="0"/>
              <a:t>Increased </a:t>
            </a:r>
            <a:r>
              <a:rPr lang="en-US" i="1" dirty="0"/>
              <a:t>systemic</a:t>
            </a:r>
            <a:r>
              <a:rPr lang="en-US" dirty="0"/>
              <a:t> risk?</a:t>
            </a:r>
            <a:endParaRPr lang="en-US" i="1" dirty="0"/>
          </a:p>
          <a:p>
            <a:pPr marL="914400" lvl="2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81190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BCB8F-7AD3-4995-CBC6-7CA6F537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Movements upon Acquisition</a:t>
            </a:r>
          </a:p>
        </p:txBody>
      </p:sp>
      <p:pic>
        <p:nvPicPr>
          <p:cNvPr id="4" name="Content Placeholder 3" descr="Weekly portfolio composition in event time">
            <a:extLst>
              <a:ext uri="{FF2B5EF4-FFF2-40B4-BE49-F238E27FC236}">
                <a16:creationId xmlns:a16="http://schemas.microsoft.com/office/drawing/2014/main" id="{DDB453EA-C013-B632-F532-58073DC62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5148" y="1343467"/>
            <a:ext cx="4810923" cy="485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1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71BCA-4569-DCAB-8BDD-FC3F632C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470A3-531D-24CA-A0C3-280A7094A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Private equity could also seek return above CAPM!</a:t>
            </a:r>
          </a:p>
          <a:p>
            <a:r>
              <a:rPr lang="en-US" dirty="0"/>
              <a:t>Regulatory arbitrage: private equity can move money more effectively than insurance</a:t>
            </a:r>
          </a:p>
          <a:p>
            <a:pPr lvl="1"/>
            <a:r>
              <a:rPr lang="en-US" dirty="0"/>
              <a:t>E.g.: move to lower tax locales so after-tax return is greater</a:t>
            </a:r>
          </a:p>
          <a:p>
            <a:pPr lvl="1"/>
            <a:r>
              <a:rPr lang="en-US" dirty="0"/>
              <a:t>This may not be entirely legal . . .</a:t>
            </a:r>
          </a:p>
        </p:txBody>
      </p:sp>
    </p:spTree>
    <p:extLst>
      <p:ext uri="{BB962C8B-B14F-4D97-AF65-F5344CB8AC3E}">
        <p14:creationId xmlns:p14="http://schemas.microsoft.com/office/powerpoint/2010/main" val="2976571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</TotalTime>
  <Words>387</Words>
  <Application>Microsoft Office PowerPoint</Application>
  <PresentationFormat>Widescreen</PresentationFormat>
  <Paragraphs>41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Why is Private Equity Involved with Insurance?</vt:lpstr>
      <vt:lpstr>What is Private Equity?</vt:lpstr>
      <vt:lpstr>Why Insurance?</vt:lpstr>
      <vt:lpstr>Quarterly Returns, before/after PE Acquisition</vt:lpstr>
      <vt:lpstr>The Tradeoff: Risk vs. Reward</vt:lpstr>
      <vt:lpstr>Bond Movements upon Acquisition</vt:lpstr>
      <vt:lpstr>Alpha?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D Flores-Brown</dc:creator>
  <cp:lastModifiedBy>Alejandro D Flores-Brown</cp:lastModifiedBy>
  <cp:revision>4</cp:revision>
  <dcterms:created xsi:type="dcterms:W3CDTF">2026-10-07T19:45:54Z</dcterms:created>
  <dcterms:modified xsi:type="dcterms:W3CDTF">2026-10-08T20:24:39Z</dcterms:modified>
</cp:coreProperties>
</file>